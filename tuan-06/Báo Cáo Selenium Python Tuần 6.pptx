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Space Grotesk" pitchFamily="2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98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83393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985962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Space Grotesk"/>
              </a:rPr>
              <a:t>BÁO CÁO NGHIÊN CỨU TÀI LIỆU TUẦN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38387"/>
            <a:ext cx="9101137" cy="135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8FAFC"/>
                </a:solidFill>
                <a:latin typeface="Space Grotesk"/>
              </a:rPr>
              <a:t>Định Vị Phần Tử &amp; Xử Lý Ngoại Lệ Trong Selenium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19537"/>
            <a:ext cx="733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Space Grotesk"/>
              </a:rPr>
              <a:t>Tổng hợp lý thuyết các mục 4.1–4.7, 7.1, 7.5, 8.2 kèm kịch bản thực thi kiểm thử tự động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957512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57512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57512"/>
            <a:ext cx="2571750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CẤU TRÚC TÀI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Lộ Trình 4 Nhóm Kiến Thức Trọng Tâm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62312"/>
            <a:ext cx="2643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59669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8147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Mục 4.1 – 4.7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15766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7 phương pháp định vị phần tử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8550" y="3262312"/>
            <a:ext cx="2643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59669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38147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Mục 7.5 &amp; 8.2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415766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Lớp By chuẩn hóa cùng cơ chế XPath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262312"/>
            <a:ext cx="2643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59669"/>
                </a:solidFill>
                <a:latin typeface="Space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38147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Mục 7.1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415766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Hệ thống 27 ngoại lệ WebDriverException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0" y="3262312"/>
            <a:ext cx="264318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D97706"/>
                </a:solidFill>
                <a:latin typeface="Space Grotes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814762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Thực Nghiệm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0" y="4157662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Chạy kịch bản kiểm thử trên trình duyệt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33600"/>
            <a:ext cx="2522339" cy="190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31939" y="2133600"/>
            <a:ext cx="2415629" cy="190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547568" y="2133600"/>
            <a:ext cx="1426071" cy="190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73639" y="2133600"/>
            <a:ext cx="4608760" cy="190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431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31939" y="26431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47568" y="26431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73639" y="26431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31384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31939" y="31384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47568" y="31384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73639" y="31384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6337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31939" y="36337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47568" y="36337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73639" y="36337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1290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31939" y="41290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47568" y="41290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73639" y="41290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9600" y="46243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31939" y="46243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47568" y="46243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73639" y="46243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9600" y="51196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31939" y="51196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547568" y="51196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73639" y="51196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9600" y="56149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131939" y="56149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47568" y="56149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973639" y="56149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9600" y="6110287"/>
            <a:ext cx="252233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31939" y="6110287"/>
            <a:ext cx="2415629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547568" y="6110287"/>
            <a:ext cx="14260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973639" y="6110287"/>
            <a:ext cx="460876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09600" y="1657350"/>
          <a:ext cx="10972799" cy="4467225"/>
        </p:xfrm>
        <a:graphic>
          <a:graphicData uri="http://schemas.openxmlformats.org/drawingml/2006/table">
            <a:tbl>
              <a:tblPr/>
              <a:tblGrid>
                <a:gridCol w="2522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59669"/>
                          </a:solidFill>
                          <a:latin typeface="Space Grotesk"/>
                        </a:rPr>
                        <a:t>Hằng Số Lớp By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59669"/>
                          </a:solidFill>
                          <a:latin typeface="Space Grotesk"/>
                        </a:rPr>
                        <a:t>Giá Trị Chuỗi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59669"/>
                          </a:solidFill>
                          <a:latin typeface="Space Grotesk"/>
                        </a:rPr>
                        <a:t>Mục Tài Liệu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59669"/>
                          </a:solidFill>
                          <a:latin typeface="Space Grotesk"/>
                        </a:rPr>
                        <a:t>Đặc Điểm Áp Dụng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'id'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Định vị nhanh qua thuộc tính id duy nhất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'name'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Tìm phần tử đầu tiên khớp thuộc tính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By.XPATH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'xpath'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Truy vấn linh hoạt theo đường dẫn nút XML/HTML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By.LINK_TEXT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'link text'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Khớp chính xác văn bản bên trong thẻ liên kết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By.PARTIAL_LINK_TEXT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'partial link text'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Khớp một phần chuỗi văn bản của thẻ liên kết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By.TAG_NAME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'tag name'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Truy xuất theo tên thẻ HTML như h1 hoặc 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35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By.CLASS_NAME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'class name'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Định vị phần tử theo tên lớp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36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By.CSS_SELECTOR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'css selector'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Mục 4.7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Space Grotesk"/>
                        </a:rPr>
                        <a:t>Kết hợp thẻ cùng thuộc tính theo cú pháp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7.5: LỚP ĐỊNH VỊ BY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8 Chiến Lược Thuộc Lớp selenium.webdriver.common.by.By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62600" y="2343150"/>
            <a:ext cx="6019800" cy="3133725"/>
          </a:xfrm>
          <a:prstGeom prst="roundRect">
            <a:avLst>
              <a:gd name="adj" fmla="val 3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4.1 &amp; 4.2: ĐỊNH VỊ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Định Vị Phần Tử Theo ID &amp;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0" y="2609850"/>
            <a:ext cx="5581650" cy="2400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HTML: &lt;form id="loginForm"&gt;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&lt;input name="username" type="text" /&gt;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&lt;input name="continue" type="submit" value="Login" /&gt;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&lt;input name="continue" type="button" value="Clear" /&gt;</a:t>
            </a:r>
          </a:p>
          <a:p>
            <a:pPr algn="l"/>
            <a:endParaRPr lang="vi-VN" sz="120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4.1 Tìm biểu mẫu theo ID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login_form = driver.find_element(By.ID, 'loginForm')</a:t>
            </a:r>
          </a:p>
          <a:p>
            <a:pPr algn="l"/>
            <a:endParaRPr lang="vi-VN" sz="120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4.2 Tìm ô nhập theo Name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username = driver.find_element(By.NAME, 'username')</a:t>
            </a:r>
          </a:p>
          <a:p>
            <a:pPr algn="l"/>
            <a:endParaRPr lang="vi-VN" sz="120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# Trả về nút "Login" vì đứng trước nút "Clear"</a:t>
            </a:r>
          </a:p>
          <a:p>
            <a:pPr algn="l"/>
            <a:r>
              <a:rPr lang="vi-VN" sz="1200" b="0" i="0" u="none" dirty="0">
                <a:solidFill>
                  <a:srgbClr val="E2E8F0"/>
                </a:solidFill>
                <a:latin typeface="Space Grotesk"/>
              </a:rPr>
              <a:t>continue_btn = driver.find_element(By.NAME, 'continue')</a:t>
            </a:r>
            <a:endParaRPr sz="1200" b="0" i="0" u="none" dirty="0">
              <a:solidFill>
                <a:srgbClr val="E2E8F0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466975"/>
            <a:ext cx="60007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Nguyên Tắc Hoạt Động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8860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14650"/>
            <a:ext cx="4438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Space Grotesk"/>
              </a:rPr>
              <a:t>By.ID: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Trả về phần tử đầu tiên khớp thuộc tính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5337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62350"/>
            <a:ext cx="4438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Space Grotesk"/>
              </a:rPr>
              <a:t>By.NAME: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Trả về phần tử đầu tiên khớp thuộc tính name.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1814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210050"/>
            <a:ext cx="4438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Space Grotesk"/>
              </a:rPr>
              <a:t>Trùng lặp Name: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Ưu tiên lấy phần tử xuất hiện trước trong DOM.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829175"/>
            <a:ext cx="66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57750"/>
            <a:ext cx="4438650" cy="49530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Space Grotesk"/>
              </a:rPr>
              <a:t>Không tìm thấy:</a:t>
            </a:r>
            <a:r>
              <a:rPr sz="1500" b="0" i="0" u="none">
                <a:solidFill>
                  <a:srgbClr val="334155"/>
                </a:solidFill>
                <a:latin typeface="Space Grotesk"/>
              </a:rPr>
              <a:t> Tự động phát sinh lỗi NoSuchElementException.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71775"/>
            <a:ext cx="5334000" cy="2276475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771775"/>
            <a:ext cx="5334000" cy="2276475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4.3: NGÔN NGỮ TRUY VẤN XPATH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So Sánh XPath Tuyệt Đối &amp; XPath Tương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6575"/>
            <a:ext cx="62007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D97706"/>
                </a:solidFill>
                <a:latin typeface="Space Grotesk"/>
              </a:rPr>
              <a:t>XPath Tuyệt Đối (Không Khuyên Dùng)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076575"/>
            <a:ext cx="56388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Space Grotesk"/>
              </a:rPr>
              <a:t>XPath Tương Đối (Khuyên Dùng)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4956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24250"/>
            <a:ext cx="561975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Cấu trúc: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Đi từ nút gốc /html/body/...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67150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95725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Nhược điểm: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Dễ gãy khi cấu trúc trang thay đổi nhỏ.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476750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05325"/>
            <a:ext cx="561975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Ví dụ: /html/body/form[1]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495675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800" y="3524250"/>
            <a:ext cx="54102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Cấu trúc: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Bắt đầu bằng // neo theo phần tử cha.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867150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3895725"/>
            <a:ext cx="4591050" cy="476250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Ưu điểm: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Kiểm thử bền vững trước thay đổi giao diện.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4476750"/>
            <a:ext cx="666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4505325"/>
            <a:ext cx="5410200" cy="238125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Ví dụ: //form[@id='loginForm']/input[1]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7512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57525"/>
            <a:ext cx="257175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57512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57512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4.4 – 4.7: ĐỊNH VỊ BỔ 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Liên Kết, Tên Thẻ, Lớp &amp; CSS 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490912"/>
            <a:ext cx="21336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By.LINK_TEXT, 'Continue'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6650" y="3590925"/>
            <a:ext cx="213360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By.TAG_NAME, 'h1'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90912"/>
            <a:ext cx="21336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By.CLASS_NAME, 'content'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7350" y="3490912"/>
            <a:ext cx="21336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pace Grotesk"/>
              </a:rPr>
              <a:t>By.CSS_SELECTOR, 'p.content'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2242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4.4 Link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57625"/>
            <a:ext cx="2133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Tìm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thẻ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neo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theo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văn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bản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hiển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thị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6650" y="3324225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4.5 Tag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6650" y="3857625"/>
            <a:ext cx="2133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Lấy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phần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tử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đầu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tiên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khớp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tên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thẻ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2242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4.6 Class 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857625"/>
            <a:ext cx="2133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Truy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vấn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theo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thuộc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tính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7350" y="3224212"/>
            <a:ext cx="267533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59669"/>
                </a:solidFill>
                <a:latin typeface="Space Grotesk"/>
              </a:rPr>
              <a:t>4.7 CSS 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7350" y="3857625"/>
            <a:ext cx="2133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Định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vị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nhanh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bằng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bộ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Space Grotesk"/>
              </a:rPr>
              <a:t>chọn</a:t>
            </a:r>
            <a:r>
              <a:rPr sz="1350" b="0" i="0" u="none" dirty="0">
                <a:solidFill>
                  <a:srgbClr val="334155"/>
                </a:solidFill>
                <a:latin typeface="Space Grotesk"/>
              </a:rPr>
              <a:t> CSS.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71737"/>
            <a:ext cx="10972800" cy="1352550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129087"/>
            <a:ext cx="53340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4238625"/>
            <a:ext cx="5334000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8.2: CƠ CHẾ XPATH TRONG WEBDRIVER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Selenium Hỗ Trợ XPath 2.0 Như Thế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6537"/>
            <a:ext cx="10458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Space Grotesk"/>
              </a:rPr>
              <a:t>“Selenium ủy quyền toàn bộ truy vấn XPath xuống công cụ XPath gốc của trình duyệt đang chạy.”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357687"/>
            <a:ext cx="6400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59669"/>
                </a:solidFill>
                <a:latin typeface="Space Grotesk"/>
              </a:rPr>
              <a:t>Trình Duyệt Hiện Đại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681537"/>
            <a:ext cx="49720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Hỗ trợ theo đúng năng lực bộ máy XPath nội tại của trình duyệt.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4467225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Space Grotesk"/>
              </a:rPr>
              <a:t>Trình Duyệt Cũ (IE 6, 7, 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791075"/>
            <a:ext cx="57150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Space Grotesk"/>
              </a:rPr>
              <a:t>Thiếu công cụ XPath gốc nên chỉ hỗ trợ chuẩn XPath 1.0.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7.1: PHÂN LOẠI NGOẠI LỆ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27 Ngoại Lệ Kế Thừa Từ WebDriverException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33562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19412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05262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5091112"/>
            <a:ext cx="10972800" cy="89535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1288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3214687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300537"/>
            <a:ext cx="2667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5386387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MỤC 7.1: XỬ LÝ LỖI THỰC TẾ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4 Ngoại Lệ Quan Trọng Nhất Khi Kiểm Thử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2043112"/>
            <a:ext cx="10001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pace Grotesk"/>
              </a:rPr>
              <a:t>NoSuchElementException:</a:t>
            </a:r>
            <a:r>
              <a:rPr sz="1425" b="0" i="0" u="none">
                <a:solidFill>
                  <a:srgbClr val="0F172A"/>
                </a:solidFill>
                <a:latin typeface="Space Grotesk"/>
              </a:rPr>
              <a:t> Không tìm thấy phần tử do sai bộ chọn hoặc trang chưa tải xong (cần dùng WebDriverWait).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3128962"/>
            <a:ext cx="99250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pace Grotesk"/>
              </a:rPr>
              <a:t>StaleElementReferenceException:</a:t>
            </a:r>
            <a:r>
              <a:rPr sz="1425" b="0" i="0" u="none">
                <a:solidFill>
                  <a:srgbClr val="0F172A"/>
                </a:solidFill>
                <a:latin typeface="Space Grotesk"/>
              </a:rPr>
              <a:t> Tham chiếu phần tử bị cũ do trang làm mới hoặc cây DOM vừa dựng lại bằng JavaScript.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14812"/>
            <a:ext cx="100393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pace Grotesk"/>
              </a:rPr>
              <a:t>ElementClickInterceptedException:</a:t>
            </a:r>
            <a:r>
              <a:rPr sz="1425" b="0" i="0" u="none">
                <a:solidFill>
                  <a:srgbClr val="0F172A"/>
                </a:solidFill>
                <a:latin typeface="Space Grotesk"/>
              </a:rPr>
              <a:t> Lệnh nhấp chuột bị chặn bởi một lớp phủ hoặc phần tử khác che khuất phía trên.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5300662"/>
            <a:ext cx="10001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Space Grotesk"/>
              </a:rPr>
              <a:t>InvalidSelectorException &amp; TimeoutException:</a:t>
            </a:r>
            <a:r>
              <a:rPr sz="1425" b="0" i="0" u="none">
                <a:solidFill>
                  <a:srgbClr val="0F172A"/>
                </a:solidFill>
                <a:latin typeface="Space Grotesk"/>
              </a:rPr>
              <a:t> Biểu thức XPath sai cú pháp hoặc lệnh chờ vượt quá thời gian quy định.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14032" y="1862137"/>
            <a:ext cx="6468367" cy="4057650"/>
          </a:xfrm>
          <a:prstGeom prst="roundRect">
            <a:avLst>
              <a:gd name="adj" fmla="val 28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PHẦN THỰC HÀNH: HƯỚNG DẪN CHẠY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Kịch Bản Kiểm Thử Tự Động (demo_week6.py)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2632" y="2090737"/>
            <a:ext cx="6106417" cy="3231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from selenium import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webdriver</a:t>
            </a:r>
            <a:endParaRPr lang="en-US" sz="105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from selenium.webdriver.common.by import By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from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selenium.common.exceptions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import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NoSuchElementException</a:t>
            </a:r>
            <a:endParaRPr lang="en-US" sz="105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endParaRPr lang="en-US" sz="105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driver =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webdriver.Chrome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()</a:t>
            </a: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driver.get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("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data:text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/html,&lt;form id='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loginForm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'&gt;&lt;input name='username' value='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sv_test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'/&gt;&lt;a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href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='#'&gt;Continue&lt;/a&gt;&lt;p class='content'&gt;Hello&lt;/p&gt;&lt;/form&gt;")</a:t>
            </a:r>
          </a:p>
          <a:p>
            <a:pPr algn="l"/>
            <a:endParaRPr lang="en-US" sz="105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print("4.1 By.ID:",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(By.ID, "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loginForm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").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tag_name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print("4.2 By.NAME:",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(By.NAME, "username").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get_attribute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("value"))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print("4.3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By.XPATH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:",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By.XPATH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, "//form[@id='loginForm']/input[1]").tag_name)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print("4.4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By.LINK_TEXT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:",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By.LINK_TEXT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, "Continue").text)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print("4.7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By.CSS_SELECTOR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:",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By.CSS_SELECTOR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, "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p.content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").text)</a:t>
            </a:r>
          </a:p>
          <a:p>
            <a:pPr algn="l"/>
            <a:endParaRPr lang="en-US" sz="1050" b="0" i="0" u="none" dirty="0">
              <a:solidFill>
                <a:srgbClr val="E2E8F0"/>
              </a:solidFill>
              <a:latin typeface="Space Grotesk"/>
            </a:endParaRP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try: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  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driver.find_element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(By.ID, "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khong_ton_tai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")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except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NoSuchElementException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:</a:t>
            </a:r>
          </a:p>
          <a:p>
            <a:pPr algn="l"/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   print("7.1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Bắt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thành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công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ngoại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lệ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 </a:t>
            </a:r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NoSuchElementException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!")</a:t>
            </a:r>
          </a:p>
          <a:p>
            <a:pPr algn="l"/>
            <a:r>
              <a:rPr lang="en-US" sz="1050" b="0" i="0" u="none" dirty="0" err="1">
                <a:solidFill>
                  <a:srgbClr val="E2E8F0"/>
                </a:solidFill>
                <a:latin typeface="Space Grotesk"/>
              </a:rPr>
              <a:t>driver.quit</a:t>
            </a:r>
            <a:r>
              <a:rPr lang="en-US" sz="1050" b="0" i="0" u="none" dirty="0">
                <a:solidFill>
                  <a:srgbClr val="E2E8F0"/>
                </a:solidFill>
                <a:latin typeface="Space Grotesk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814637"/>
            <a:ext cx="546201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3 Bước Thực Thi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205162"/>
            <a:ext cx="1238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33737"/>
            <a:ext cx="4028182" cy="47625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Cài đặt thư viện: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Chạy lệnh pip install selenium trên Terminal.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33812"/>
            <a:ext cx="152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62387"/>
            <a:ext cx="4028182" cy="4762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Lưu mã nguồn: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Tạo tệp demo_week6.py nạp trực tiếp HTML mẫu từ tài liệu.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62462"/>
            <a:ext cx="1524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334155"/>
                </a:solidFill>
                <a:latin typeface="Space Grotes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491037"/>
            <a:ext cx="4028182" cy="47625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334155"/>
                </a:solidFill>
                <a:latin typeface="Space Grotesk"/>
              </a:rPr>
              <a:t>Chạy &amp; Chụp ảnh:</a:t>
            </a:r>
            <a:r>
              <a:rPr sz="1425" b="0" i="0" u="none">
                <a:solidFill>
                  <a:srgbClr val="334155"/>
                </a:solidFill>
                <a:latin typeface="Space Grotesk"/>
              </a:rPr>
              <a:t> Thực thi python demo_week6.py rồi chụp màn hình kết quả.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4100"/>
            <a:ext cx="5314950" cy="3133725"/>
          </a:xfrm>
          <a:prstGeom prst="roundRect">
            <a:avLst>
              <a:gd name="adj" fmla="val 3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776537"/>
            <a:ext cx="5353050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275" y="3176587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Space Grotesk"/>
              </a:rPr>
              <a:t>BÁO CÁO KẾT QUẢ CHẠY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Kết Quả Đầu Ra &amp; Minh Chứng Thực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857500"/>
            <a:ext cx="48768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$ python demo_week6.py</a:t>
            </a:r>
          </a:p>
          <a:p>
            <a:pPr algn="l"/>
            <a:endParaRPr lang="en-US" sz="1200" b="1" i="0" u="none">
              <a:solidFill>
                <a:srgbClr val="F8FAFC"/>
              </a:solidFill>
              <a:latin typeface="Space Grotesk"/>
            </a:endParaRP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4.1 By.ID: form</a:t>
            </a: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4.2 By.NAME: sv_test</a:t>
            </a: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4.3 By.XPATH: input</a:t>
            </a: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4.4 By.LINK_TEXT: Continue</a:t>
            </a: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4.7 By.CSS_SELECTOR: Hello</a:t>
            </a: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7.1 Bắt thành công ngoại lệ NoSuchElementException!</a:t>
            </a:r>
          </a:p>
          <a:p>
            <a:pPr algn="l"/>
            <a:endParaRPr lang="en-US" sz="1200" b="1" i="0" u="none">
              <a:solidFill>
                <a:srgbClr val="F8FAFC"/>
              </a:solidFill>
              <a:latin typeface="Space Grotesk"/>
            </a:endParaRPr>
          </a:p>
          <a:p>
            <a:pPr algn="l"/>
            <a:r>
              <a:rPr lang="en-US" sz="1200" b="1" i="0" u="none">
                <a:solidFill>
                  <a:srgbClr val="F8FAFC"/>
                </a:solidFill>
                <a:latin typeface="Space Grotesk"/>
              </a:rPr>
              <a:t>Process finished with exit code 0</a:t>
            </a:r>
            <a:endParaRPr sz="12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2590800"/>
            <a:ext cx="62757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Space Grotesk"/>
              </a:rPr>
              <a:t>Kết Quả In Trên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8578" y="3786187"/>
            <a:ext cx="6274593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Space Grotesk"/>
              </a:rPr>
              <a:t>Khung Chèn Ảnh Chụp Màn Hình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4710F5-FEF6-D9B6-7892-3E884451F0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7534" r="28666" b="1488"/>
          <a:stretch>
            <a:fillRect/>
          </a:stretch>
        </p:blipFill>
        <p:spPr>
          <a:xfrm>
            <a:off x="6191250" y="2590800"/>
            <a:ext cx="5670034" cy="2435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5078" y="2595562"/>
            <a:ext cx="3321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0B981"/>
                </a:solidFill>
                <a:latin typeface="Space Grotesk"/>
              </a:rPr>
              <a:t>HOÀN THÀNH BÁO CÁO TUẦN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0453" y="2947987"/>
            <a:ext cx="8751093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Cảm Ơn &amp; Giải Đáp Thắc Mắc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67137"/>
            <a:ext cx="7620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Space Grotesk"/>
              </a:rPr>
              <a:t>Nắm vững 8 chiến lược định vị phần tử By cùng cơ chế kiểm soát ngoại lệ giúp kịch bản kiểm thử Selenium ổn định hơn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1354</Words>
  <Application>Microsoft Office PowerPoint</Application>
  <PresentationFormat>Widescreen</PresentationFormat>
  <Paragraphs>168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Space Grotesk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Manh Hung Nguyen</cp:lastModifiedBy>
  <cp:revision>4</cp:revision>
  <dcterms:created xsi:type="dcterms:W3CDTF">2013-01-27T09:14:16Z</dcterms:created>
  <dcterms:modified xsi:type="dcterms:W3CDTF">2026-10-27T22:11:45Z</dcterms:modified>
  <cp:category/>
</cp:coreProperties>
</file>