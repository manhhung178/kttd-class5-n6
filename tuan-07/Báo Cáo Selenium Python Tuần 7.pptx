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Plus Jakarta Sans" pitchFamily="2" charset="0"/>
      <p:regular r:id="rId14"/>
      <p:bold r:id="rId15"/>
      <p:italic r:id="rId16"/>
      <p:boldItalic r:id="rId1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989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4800600"/>
            <a:ext cx="914400" cy="47625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62000" y="2009775"/>
            <a:ext cx="114300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60A5FA"/>
                </a:solidFill>
                <a:latin typeface="Plus Jakarta Sans"/>
              </a:rPr>
              <a:t>BÁO CÁO NGHIÊN CỨU TÀI LIỆU TUẦN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362200"/>
            <a:ext cx="9701212" cy="1295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50" b="1" i="0" u="none">
                <a:solidFill>
                  <a:srgbClr val="F8FAFC"/>
                </a:solidFill>
                <a:latin typeface="Plus Jakarta Sans"/>
              </a:rPr>
              <a:t>Tương Tác Nâng Cao &amp; Đồng Bộ Hóa Trong Selenium 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886200"/>
            <a:ext cx="790575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94A3B8"/>
                </a:solidFill>
                <a:latin typeface="Plus Jakarta Sans"/>
              </a:rPr>
              <a:t>Tổng hợp lý thuyết chuyên sâu các mục 3.5 (Popup Dialogs), 5.1 (Explicit Waits), 7.1 (Exceptions), 7.2 (Action Chains) kèm báo cáo thực nghiệm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909887"/>
            <a:ext cx="2571750" cy="1971675"/>
          </a:xfrm>
          <a:prstGeom prst="roundRect">
            <a:avLst>
              <a:gd name="adj" fmla="val 6763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09950" y="2909887"/>
            <a:ext cx="2571750" cy="1971675"/>
          </a:xfrm>
          <a:prstGeom prst="roundRect">
            <a:avLst>
              <a:gd name="adj" fmla="val 6763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10300" y="2909887"/>
            <a:ext cx="2571750" cy="1971675"/>
          </a:xfrm>
          <a:prstGeom prst="roundRect">
            <a:avLst>
              <a:gd name="adj" fmla="val 6763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010650" y="2909887"/>
            <a:ext cx="2571750" cy="1971675"/>
          </a:xfrm>
          <a:prstGeom prst="roundRect">
            <a:avLst>
              <a:gd name="adj" fmla="val 6763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2563EB"/>
                </a:solidFill>
                <a:latin typeface="Plus Jakarta Sans"/>
              </a:rPr>
              <a:t>CẤU TRÚC NỘI DUNG TUẦN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14375"/>
            <a:ext cx="11582400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1E293B"/>
                </a:solidFill>
                <a:latin typeface="Plus Jakarta Sans"/>
              </a:rPr>
              <a:t>Lộ Trình 4 Chuyên Đề Kiến Thức Trọng Tâm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3214687"/>
            <a:ext cx="2643187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2563EB"/>
                </a:solidFill>
                <a:latin typeface="Plus Jakarta Sans"/>
              </a:rPr>
              <a:t>3.5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3776662"/>
            <a:ext cx="2775346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293B"/>
                </a:solidFill>
                <a:latin typeface="Plus Jakarta Sans"/>
              </a:rPr>
              <a:t>Popup Dialogs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4138612"/>
            <a:ext cx="22098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Điều khiển hộp thoại cảnh báo trình duyệt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8550" y="3214687"/>
            <a:ext cx="2643187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2563EB"/>
                </a:solidFill>
                <a:latin typeface="Plus Jakarta Sans"/>
              </a:rPr>
              <a:t>5.1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8550" y="3776662"/>
            <a:ext cx="2775346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293B"/>
                </a:solidFill>
                <a:latin typeface="Plus Jakarta Sans"/>
              </a:rPr>
              <a:t>Explicit Waits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8550" y="4138612"/>
            <a:ext cx="22098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Đồng bộ hóa chờ theo điều kiện xác định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38900" y="3214687"/>
            <a:ext cx="2643187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2563EB"/>
                </a:solidFill>
                <a:latin typeface="Plus Jakarta Sans"/>
              </a:rPr>
              <a:t>7.2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8900" y="3776662"/>
            <a:ext cx="2775346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293B"/>
                </a:solidFill>
                <a:latin typeface="Plus Jakarta Sans"/>
              </a:rPr>
              <a:t>Action Chains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8900" y="4138612"/>
            <a:ext cx="22098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Chuỗi tương tác chuột phím mức thấp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9250" y="3214687"/>
            <a:ext cx="2643187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EA580C"/>
                </a:solidFill>
                <a:latin typeface="Plus Jakarta Sans"/>
              </a:rPr>
              <a:t>7.1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9250" y="3776662"/>
            <a:ext cx="2775346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293B"/>
                </a:solidFill>
                <a:latin typeface="Plus Jakarta Sans"/>
              </a:rPr>
              <a:t>Exceptions &amp; Demo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9250" y="4138612"/>
            <a:ext cx="22098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Xử lý ngoại lệ kèm kiểm thử thực tế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668863" y="2409825"/>
            <a:ext cx="5913536" cy="2933700"/>
          </a:xfrm>
          <a:prstGeom prst="roundRect">
            <a:avLst>
              <a:gd name="adj" fmla="val 4545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115824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2563EB"/>
                </a:solidFill>
                <a:latin typeface="Plus Jakarta Sans"/>
              </a:rPr>
              <a:t>MỤC 3.5: POPUP DIALOGS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14375"/>
            <a:ext cx="11582400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1E293B"/>
                </a:solidFill>
                <a:latin typeface="Plus Jakarta Sans"/>
              </a:rPr>
              <a:t>Cơ Chế Xử Lý Hộp Thoại Cảnh Báo Tích Hợp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35563" y="2676525"/>
            <a:ext cx="5475386" cy="22159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0" i="0" u="none" dirty="0">
                <a:solidFill>
                  <a:srgbClr val="E2E8F0"/>
                </a:solidFill>
                <a:latin typeface="Plus Jakarta Sans"/>
              </a:rPr>
              <a:t># </a:t>
            </a:r>
            <a:r>
              <a:rPr lang="en-US" sz="1200" b="0" i="0" u="none" dirty="0" err="1">
                <a:solidFill>
                  <a:srgbClr val="E2E8F0"/>
                </a:solidFill>
                <a:latin typeface="Plus Jakarta Sans"/>
              </a:rPr>
              <a:t>Chuyển</a:t>
            </a:r>
            <a:r>
              <a:rPr lang="en-US" sz="1200" b="0" i="0" u="none" dirty="0">
                <a:solidFill>
                  <a:srgbClr val="E2E8F0"/>
                </a:solidFill>
                <a:latin typeface="Plus Jakarta Sans"/>
              </a:rPr>
              <a:t> </a:t>
            </a:r>
            <a:r>
              <a:rPr lang="en-US" sz="1200" b="0" i="0" u="none" dirty="0" err="1">
                <a:solidFill>
                  <a:srgbClr val="E2E8F0"/>
                </a:solidFill>
                <a:latin typeface="Plus Jakarta Sans"/>
              </a:rPr>
              <a:t>quyền</a:t>
            </a:r>
            <a:r>
              <a:rPr lang="en-US" sz="1200" b="0" i="0" u="none" dirty="0">
                <a:solidFill>
                  <a:srgbClr val="E2E8F0"/>
                </a:solidFill>
                <a:latin typeface="Plus Jakarta Sans"/>
              </a:rPr>
              <a:t> </a:t>
            </a:r>
            <a:r>
              <a:rPr lang="en-US" sz="1200" b="0" i="0" u="none" dirty="0" err="1">
                <a:solidFill>
                  <a:srgbClr val="E2E8F0"/>
                </a:solidFill>
                <a:latin typeface="Plus Jakarta Sans"/>
              </a:rPr>
              <a:t>điều</a:t>
            </a:r>
            <a:r>
              <a:rPr lang="en-US" sz="1200" b="0" i="0" u="none" dirty="0">
                <a:solidFill>
                  <a:srgbClr val="E2E8F0"/>
                </a:solidFill>
                <a:latin typeface="Plus Jakarta Sans"/>
              </a:rPr>
              <a:t> </a:t>
            </a:r>
            <a:r>
              <a:rPr lang="en-US" sz="1200" b="0" i="0" u="none" dirty="0" err="1">
                <a:solidFill>
                  <a:srgbClr val="E2E8F0"/>
                </a:solidFill>
                <a:latin typeface="Plus Jakarta Sans"/>
              </a:rPr>
              <a:t>khiển</a:t>
            </a:r>
            <a:r>
              <a:rPr lang="en-US" sz="1200" b="0" i="0" u="none" dirty="0">
                <a:solidFill>
                  <a:srgbClr val="E2E8F0"/>
                </a:solidFill>
                <a:latin typeface="Plus Jakarta Sans"/>
              </a:rPr>
              <a:t> sang popup </a:t>
            </a:r>
            <a:r>
              <a:rPr lang="en-US" sz="1200" b="0" i="0" u="none" dirty="0" err="1">
                <a:solidFill>
                  <a:srgbClr val="E2E8F0"/>
                </a:solidFill>
                <a:latin typeface="Plus Jakarta Sans"/>
              </a:rPr>
              <a:t>đang</a:t>
            </a:r>
            <a:r>
              <a:rPr lang="en-US" sz="1200" b="0" i="0" u="none" dirty="0">
                <a:solidFill>
                  <a:srgbClr val="E2E8F0"/>
                </a:solidFill>
                <a:latin typeface="Plus Jakarta Sans"/>
              </a:rPr>
              <a:t> </a:t>
            </a:r>
            <a:r>
              <a:rPr lang="en-US" sz="1200" b="0" i="0" u="none" dirty="0" err="1">
                <a:solidFill>
                  <a:srgbClr val="E2E8F0"/>
                </a:solidFill>
                <a:latin typeface="Plus Jakarta Sans"/>
              </a:rPr>
              <a:t>mở</a:t>
            </a:r>
            <a:endParaRPr lang="en-US" sz="1200" b="0" i="0" u="none" dirty="0">
              <a:solidFill>
                <a:srgbClr val="E2E8F0"/>
              </a:solidFill>
              <a:latin typeface="Plus Jakarta Sans"/>
            </a:endParaRPr>
          </a:p>
          <a:p>
            <a:pPr algn="l"/>
            <a:r>
              <a:rPr lang="en-US" sz="1200" b="0" i="0" u="none" dirty="0">
                <a:solidFill>
                  <a:srgbClr val="E2E8F0"/>
                </a:solidFill>
                <a:latin typeface="Plus Jakarta Sans"/>
              </a:rPr>
              <a:t>alert = </a:t>
            </a:r>
            <a:r>
              <a:rPr lang="en-US" sz="1200" b="0" i="0" u="none" dirty="0" err="1">
                <a:solidFill>
                  <a:srgbClr val="E2E8F0"/>
                </a:solidFill>
                <a:latin typeface="Plus Jakarta Sans"/>
              </a:rPr>
              <a:t>driver.switch_to.alert</a:t>
            </a:r>
            <a:endParaRPr lang="en-US" sz="1200" b="0" i="0" u="none" dirty="0">
              <a:solidFill>
                <a:srgbClr val="E2E8F0"/>
              </a:solidFill>
              <a:latin typeface="Plus Jakarta Sans"/>
            </a:endParaRPr>
          </a:p>
          <a:p>
            <a:pPr algn="l"/>
            <a:endParaRPr lang="en-US" sz="1200" b="0" i="0" u="none" dirty="0">
              <a:solidFill>
                <a:srgbClr val="E2E8F0"/>
              </a:solidFill>
              <a:latin typeface="Plus Jakarta Sans"/>
            </a:endParaRPr>
          </a:p>
          <a:p>
            <a:pPr algn="l"/>
            <a:r>
              <a:rPr lang="en-US" sz="1200" b="0" i="0" u="none" dirty="0">
                <a:solidFill>
                  <a:srgbClr val="E2E8F0"/>
                </a:solidFill>
                <a:latin typeface="Plus Jakarta Sans"/>
              </a:rPr>
              <a:t># 1. </a:t>
            </a:r>
            <a:r>
              <a:rPr lang="en-US" sz="1200" b="0" i="0" u="none" dirty="0" err="1">
                <a:solidFill>
                  <a:srgbClr val="E2E8F0"/>
                </a:solidFill>
                <a:latin typeface="Plus Jakarta Sans"/>
              </a:rPr>
              <a:t>Đọc</a:t>
            </a:r>
            <a:r>
              <a:rPr lang="en-US" sz="1200" b="0" i="0" u="none" dirty="0">
                <a:solidFill>
                  <a:srgbClr val="E2E8F0"/>
                </a:solidFill>
                <a:latin typeface="Plus Jakarta Sans"/>
              </a:rPr>
              <a:t> </a:t>
            </a:r>
            <a:r>
              <a:rPr lang="en-US" sz="1200" b="0" i="0" u="none" dirty="0" err="1">
                <a:solidFill>
                  <a:srgbClr val="E2E8F0"/>
                </a:solidFill>
                <a:latin typeface="Plus Jakarta Sans"/>
              </a:rPr>
              <a:t>nội</a:t>
            </a:r>
            <a:r>
              <a:rPr lang="en-US" sz="1200" b="0" i="0" u="none" dirty="0">
                <a:solidFill>
                  <a:srgbClr val="E2E8F0"/>
                </a:solidFill>
                <a:latin typeface="Plus Jakarta Sans"/>
              </a:rPr>
              <a:t> dung </a:t>
            </a:r>
            <a:r>
              <a:rPr lang="en-US" sz="1200" b="0" i="0" u="none" dirty="0" err="1">
                <a:solidFill>
                  <a:srgbClr val="E2E8F0"/>
                </a:solidFill>
                <a:latin typeface="Plus Jakarta Sans"/>
              </a:rPr>
              <a:t>văn</a:t>
            </a:r>
            <a:r>
              <a:rPr lang="en-US" sz="1200" b="0" i="0" u="none" dirty="0">
                <a:solidFill>
                  <a:srgbClr val="E2E8F0"/>
                </a:solidFill>
                <a:latin typeface="Plus Jakarta Sans"/>
              </a:rPr>
              <a:t> </a:t>
            </a:r>
            <a:r>
              <a:rPr lang="en-US" sz="1200" b="0" i="0" u="none" dirty="0" err="1">
                <a:solidFill>
                  <a:srgbClr val="E2E8F0"/>
                </a:solidFill>
                <a:latin typeface="Plus Jakarta Sans"/>
              </a:rPr>
              <a:t>bản</a:t>
            </a:r>
            <a:r>
              <a:rPr lang="en-US" sz="1200" b="0" i="0" u="none" dirty="0">
                <a:solidFill>
                  <a:srgbClr val="E2E8F0"/>
                </a:solidFill>
                <a:latin typeface="Plus Jakarta Sans"/>
              </a:rPr>
              <a:t> </a:t>
            </a:r>
            <a:r>
              <a:rPr lang="en-US" sz="1200" b="0" i="0" u="none" dirty="0" err="1">
                <a:solidFill>
                  <a:srgbClr val="E2E8F0"/>
                </a:solidFill>
                <a:latin typeface="Plus Jakarta Sans"/>
              </a:rPr>
              <a:t>của</a:t>
            </a:r>
            <a:r>
              <a:rPr lang="en-US" sz="1200" b="0" i="0" u="none" dirty="0">
                <a:solidFill>
                  <a:srgbClr val="E2E8F0"/>
                </a:solidFill>
                <a:latin typeface="Plus Jakarta Sans"/>
              </a:rPr>
              <a:t> </a:t>
            </a:r>
            <a:r>
              <a:rPr lang="en-US" sz="1200" b="0" i="0" u="none" dirty="0" err="1">
                <a:solidFill>
                  <a:srgbClr val="E2E8F0"/>
                </a:solidFill>
                <a:latin typeface="Plus Jakarta Sans"/>
              </a:rPr>
              <a:t>hộp</a:t>
            </a:r>
            <a:r>
              <a:rPr lang="en-US" sz="1200" b="0" i="0" u="none" dirty="0">
                <a:solidFill>
                  <a:srgbClr val="E2E8F0"/>
                </a:solidFill>
                <a:latin typeface="Plus Jakarta Sans"/>
              </a:rPr>
              <a:t> </a:t>
            </a:r>
            <a:r>
              <a:rPr lang="en-US" sz="1200" b="0" i="0" u="none" dirty="0" err="1">
                <a:solidFill>
                  <a:srgbClr val="E2E8F0"/>
                </a:solidFill>
                <a:latin typeface="Plus Jakarta Sans"/>
              </a:rPr>
              <a:t>thoại</a:t>
            </a:r>
            <a:endParaRPr lang="en-US" sz="1200" b="0" i="0" u="none" dirty="0">
              <a:solidFill>
                <a:srgbClr val="E2E8F0"/>
              </a:solidFill>
              <a:latin typeface="Plus Jakarta Sans"/>
            </a:endParaRPr>
          </a:p>
          <a:p>
            <a:pPr algn="l"/>
            <a:r>
              <a:rPr lang="en-US" sz="1200" b="0" i="0" u="none" dirty="0">
                <a:solidFill>
                  <a:srgbClr val="E2E8F0"/>
                </a:solidFill>
                <a:latin typeface="Plus Jakarta Sans"/>
              </a:rPr>
              <a:t>print("</a:t>
            </a:r>
            <a:r>
              <a:rPr lang="en-US" sz="1200" b="0" i="0" u="none" dirty="0" err="1">
                <a:solidFill>
                  <a:srgbClr val="E2E8F0"/>
                </a:solidFill>
                <a:latin typeface="Plus Jakarta Sans"/>
              </a:rPr>
              <a:t>Nội</a:t>
            </a:r>
            <a:r>
              <a:rPr lang="en-US" sz="1200" b="0" i="0" u="none" dirty="0">
                <a:solidFill>
                  <a:srgbClr val="E2E8F0"/>
                </a:solidFill>
                <a:latin typeface="Plus Jakarta Sans"/>
              </a:rPr>
              <a:t> dung:", </a:t>
            </a:r>
            <a:r>
              <a:rPr lang="en-US" sz="1200" b="0" i="0" u="none" dirty="0" err="1">
                <a:solidFill>
                  <a:srgbClr val="E2E8F0"/>
                </a:solidFill>
                <a:latin typeface="Plus Jakarta Sans"/>
              </a:rPr>
              <a:t>alert.text</a:t>
            </a:r>
            <a:r>
              <a:rPr lang="en-US" sz="1200" b="0" i="0" u="none" dirty="0">
                <a:solidFill>
                  <a:srgbClr val="E2E8F0"/>
                </a:solidFill>
                <a:latin typeface="Plus Jakarta Sans"/>
              </a:rPr>
              <a:t>)</a:t>
            </a:r>
          </a:p>
          <a:p>
            <a:pPr algn="l"/>
            <a:endParaRPr lang="en-US" sz="1200" b="0" i="0" u="none" dirty="0">
              <a:solidFill>
                <a:srgbClr val="E2E8F0"/>
              </a:solidFill>
              <a:latin typeface="Plus Jakarta Sans"/>
            </a:endParaRPr>
          </a:p>
          <a:p>
            <a:pPr algn="l"/>
            <a:r>
              <a:rPr lang="en-US" sz="1200" b="0" i="0" u="none" dirty="0">
                <a:solidFill>
                  <a:srgbClr val="E2E8F0"/>
                </a:solidFill>
                <a:latin typeface="Plus Jakarta Sans"/>
              </a:rPr>
              <a:t># 2. </a:t>
            </a:r>
            <a:r>
              <a:rPr lang="en-US" sz="1200" b="0" i="0" u="none" dirty="0" err="1">
                <a:solidFill>
                  <a:srgbClr val="E2E8F0"/>
                </a:solidFill>
                <a:latin typeface="Plus Jakarta Sans"/>
              </a:rPr>
              <a:t>Nhập</a:t>
            </a:r>
            <a:r>
              <a:rPr lang="en-US" sz="1200" b="0" i="0" u="none" dirty="0">
                <a:solidFill>
                  <a:srgbClr val="E2E8F0"/>
                </a:solidFill>
                <a:latin typeface="Plus Jakarta Sans"/>
              </a:rPr>
              <a:t> </a:t>
            </a:r>
            <a:r>
              <a:rPr lang="en-US" sz="1200" b="0" i="0" u="none" dirty="0" err="1">
                <a:solidFill>
                  <a:srgbClr val="E2E8F0"/>
                </a:solidFill>
                <a:latin typeface="Plus Jakarta Sans"/>
              </a:rPr>
              <a:t>chuỗi</a:t>
            </a:r>
            <a:r>
              <a:rPr lang="en-US" sz="1200" b="0" i="0" u="none" dirty="0">
                <a:solidFill>
                  <a:srgbClr val="E2E8F0"/>
                </a:solidFill>
                <a:latin typeface="Plus Jakarta Sans"/>
              </a:rPr>
              <a:t> </a:t>
            </a:r>
            <a:r>
              <a:rPr lang="en-US" sz="1200" b="0" i="0" u="none" dirty="0" err="1">
                <a:solidFill>
                  <a:srgbClr val="E2E8F0"/>
                </a:solidFill>
                <a:latin typeface="Plus Jakarta Sans"/>
              </a:rPr>
              <a:t>vào</a:t>
            </a:r>
            <a:r>
              <a:rPr lang="en-US" sz="1200" b="0" i="0" u="none" dirty="0">
                <a:solidFill>
                  <a:srgbClr val="E2E8F0"/>
                </a:solidFill>
                <a:latin typeface="Plus Jakarta Sans"/>
              </a:rPr>
              <a:t> </a:t>
            </a:r>
            <a:r>
              <a:rPr lang="en-US" sz="1200" b="0" i="0" u="none" dirty="0" err="1">
                <a:solidFill>
                  <a:srgbClr val="E2E8F0"/>
                </a:solidFill>
                <a:latin typeface="Plus Jakarta Sans"/>
              </a:rPr>
              <a:t>hộp</a:t>
            </a:r>
            <a:r>
              <a:rPr lang="en-US" sz="1200" b="0" i="0" u="none" dirty="0">
                <a:solidFill>
                  <a:srgbClr val="E2E8F0"/>
                </a:solidFill>
                <a:latin typeface="Plus Jakarta Sans"/>
              </a:rPr>
              <a:t> </a:t>
            </a:r>
            <a:r>
              <a:rPr lang="en-US" sz="1200" b="0" i="0" u="none" dirty="0" err="1">
                <a:solidFill>
                  <a:srgbClr val="E2E8F0"/>
                </a:solidFill>
                <a:latin typeface="Plus Jakarta Sans"/>
              </a:rPr>
              <a:t>thoại</a:t>
            </a:r>
            <a:r>
              <a:rPr lang="en-US" sz="1200" b="0" i="0" u="none" dirty="0">
                <a:solidFill>
                  <a:srgbClr val="E2E8F0"/>
                </a:solidFill>
                <a:latin typeface="Plus Jakarta Sans"/>
              </a:rPr>
              <a:t> Prompt</a:t>
            </a:r>
          </a:p>
          <a:p>
            <a:pPr algn="l"/>
            <a:r>
              <a:rPr lang="en-US" sz="1200" b="0" i="0" u="none" dirty="0" err="1">
                <a:solidFill>
                  <a:srgbClr val="E2E8F0"/>
                </a:solidFill>
                <a:latin typeface="Plus Jakarta Sans"/>
              </a:rPr>
              <a:t>alert.send_keys</a:t>
            </a:r>
            <a:r>
              <a:rPr lang="en-US" sz="1200" b="0" i="0" u="none" dirty="0">
                <a:solidFill>
                  <a:srgbClr val="E2E8F0"/>
                </a:solidFill>
                <a:latin typeface="Plus Jakarta Sans"/>
              </a:rPr>
              <a:t>("</a:t>
            </a:r>
            <a:r>
              <a:rPr lang="en-US" sz="1200" b="0" i="0" u="none" dirty="0" err="1">
                <a:solidFill>
                  <a:srgbClr val="E2E8F0"/>
                </a:solidFill>
                <a:latin typeface="Plus Jakarta Sans"/>
              </a:rPr>
              <a:t>Dữ</a:t>
            </a:r>
            <a:r>
              <a:rPr lang="en-US" sz="1200" b="0" i="0" u="none" dirty="0">
                <a:solidFill>
                  <a:srgbClr val="E2E8F0"/>
                </a:solidFill>
                <a:latin typeface="Plus Jakarta Sans"/>
              </a:rPr>
              <a:t> </a:t>
            </a:r>
            <a:r>
              <a:rPr lang="en-US" sz="1200" b="0" i="0" u="none" dirty="0" err="1">
                <a:solidFill>
                  <a:srgbClr val="E2E8F0"/>
                </a:solidFill>
                <a:latin typeface="Plus Jakarta Sans"/>
              </a:rPr>
              <a:t>liệu</a:t>
            </a:r>
            <a:r>
              <a:rPr lang="en-US" sz="1200" b="0" i="0" u="none" dirty="0">
                <a:solidFill>
                  <a:srgbClr val="E2E8F0"/>
                </a:solidFill>
                <a:latin typeface="Plus Jakarta Sans"/>
              </a:rPr>
              <a:t> </a:t>
            </a:r>
            <a:r>
              <a:rPr lang="en-US" sz="1200" b="0" i="0" u="none" dirty="0" err="1">
                <a:solidFill>
                  <a:srgbClr val="E2E8F0"/>
                </a:solidFill>
                <a:latin typeface="Plus Jakarta Sans"/>
              </a:rPr>
              <a:t>phản</a:t>
            </a:r>
            <a:r>
              <a:rPr lang="en-US" sz="1200" b="0" i="0" u="none" dirty="0">
                <a:solidFill>
                  <a:srgbClr val="E2E8F0"/>
                </a:solidFill>
                <a:latin typeface="Plus Jakarta Sans"/>
              </a:rPr>
              <a:t> </a:t>
            </a:r>
            <a:r>
              <a:rPr lang="en-US" sz="1200" b="0" i="0" u="none" dirty="0" err="1">
                <a:solidFill>
                  <a:srgbClr val="E2E8F0"/>
                </a:solidFill>
                <a:latin typeface="Plus Jakarta Sans"/>
              </a:rPr>
              <a:t>hồi</a:t>
            </a:r>
            <a:r>
              <a:rPr lang="en-US" sz="1200" b="0" i="0" u="none" dirty="0">
                <a:solidFill>
                  <a:srgbClr val="E2E8F0"/>
                </a:solidFill>
                <a:latin typeface="Plus Jakarta Sans"/>
              </a:rPr>
              <a:t>")</a:t>
            </a:r>
          </a:p>
          <a:p>
            <a:pPr algn="l"/>
            <a:endParaRPr lang="en-US" sz="1200" b="0" i="0" u="none" dirty="0">
              <a:solidFill>
                <a:srgbClr val="E2E8F0"/>
              </a:solidFill>
              <a:latin typeface="Plus Jakarta Sans"/>
            </a:endParaRPr>
          </a:p>
          <a:p>
            <a:pPr algn="l"/>
            <a:r>
              <a:rPr lang="en-US" sz="1200" b="0" i="0" u="none" dirty="0">
                <a:solidFill>
                  <a:srgbClr val="E2E8F0"/>
                </a:solidFill>
                <a:latin typeface="Plus Jakarta Sans"/>
              </a:rPr>
              <a:t># 3. </a:t>
            </a:r>
            <a:r>
              <a:rPr lang="en-US" sz="1200" b="0" i="0" u="none" dirty="0" err="1">
                <a:solidFill>
                  <a:srgbClr val="E2E8F0"/>
                </a:solidFill>
                <a:latin typeface="Plus Jakarta Sans"/>
              </a:rPr>
              <a:t>Nhấn</a:t>
            </a:r>
            <a:r>
              <a:rPr lang="en-US" sz="1200" b="0" i="0" u="none" dirty="0">
                <a:solidFill>
                  <a:srgbClr val="E2E8F0"/>
                </a:solidFill>
                <a:latin typeface="Plus Jakarta Sans"/>
              </a:rPr>
              <a:t> </a:t>
            </a:r>
            <a:r>
              <a:rPr lang="en-US" sz="1200" b="0" i="0" u="none" dirty="0" err="1">
                <a:solidFill>
                  <a:srgbClr val="E2E8F0"/>
                </a:solidFill>
                <a:latin typeface="Plus Jakarta Sans"/>
              </a:rPr>
              <a:t>nút</a:t>
            </a:r>
            <a:r>
              <a:rPr lang="en-US" sz="1200" b="0" i="0" u="none" dirty="0">
                <a:solidFill>
                  <a:srgbClr val="E2E8F0"/>
                </a:solidFill>
                <a:latin typeface="Plus Jakarta Sans"/>
              </a:rPr>
              <a:t> OK (Accept) </a:t>
            </a:r>
            <a:r>
              <a:rPr lang="en-US" sz="1200" b="0" i="0" u="none" dirty="0" err="1">
                <a:solidFill>
                  <a:srgbClr val="E2E8F0"/>
                </a:solidFill>
                <a:latin typeface="Plus Jakarta Sans"/>
              </a:rPr>
              <a:t>hoặc</a:t>
            </a:r>
            <a:r>
              <a:rPr lang="en-US" sz="1200" b="0" i="0" u="none" dirty="0">
                <a:solidFill>
                  <a:srgbClr val="E2E8F0"/>
                </a:solidFill>
                <a:latin typeface="Plus Jakarta Sans"/>
              </a:rPr>
              <a:t> Cancel (Dismiss)</a:t>
            </a:r>
          </a:p>
          <a:p>
            <a:pPr algn="l"/>
            <a:r>
              <a:rPr lang="en-US" sz="1200" b="0" i="0" u="none" dirty="0" err="1">
                <a:solidFill>
                  <a:srgbClr val="E2E8F0"/>
                </a:solidFill>
                <a:latin typeface="Plus Jakarta Sans"/>
              </a:rPr>
              <a:t>alert.accept</a:t>
            </a:r>
            <a:r>
              <a:rPr lang="en-US" sz="1200" b="0" i="0" u="none" dirty="0">
                <a:solidFill>
                  <a:srgbClr val="E2E8F0"/>
                </a:solidFill>
                <a:latin typeface="Plus Jakarta Sans"/>
              </a:rPr>
              <a:t>()</a:t>
            </a:r>
          </a:p>
          <a:p>
            <a:pPr algn="l"/>
            <a:r>
              <a:rPr lang="en-US" sz="1200" b="0" i="0" u="none" dirty="0">
                <a:solidFill>
                  <a:srgbClr val="E2E8F0"/>
                </a:solidFill>
                <a:latin typeface="Plus Jakarta Sans"/>
              </a:rPr>
              <a:t># </a:t>
            </a:r>
            <a:r>
              <a:rPr lang="en-US" sz="1200" b="0" i="0" u="none" dirty="0" err="1">
                <a:solidFill>
                  <a:srgbClr val="E2E8F0"/>
                </a:solidFill>
                <a:latin typeface="Plus Jakarta Sans"/>
              </a:rPr>
              <a:t>alert.dismiss</a:t>
            </a:r>
            <a:r>
              <a:rPr lang="en-US" sz="1200" b="0" i="0" u="none" dirty="0">
                <a:solidFill>
                  <a:srgbClr val="E2E8F0"/>
                </a:solidFill>
                <a:latin typeface="Plus Jakarta Sans"/>
              </a:rPr>
              <a:t>()</a:t>
            </a:r>
            <a:endParaRPr sz="1200" b="0" i="0" u="none" dirty="0">
              <a:solidFill>
                <a:srgbClr val="E2E8F0"/>
              </a:solidFill>
              <a:latin typeface="Plus Jakarta San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9600" y="2362200"/>
            <a:ext cx="614022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E293B"/>
                </a:solidFill>
                <a:latin typeface="Plus Jakarta Sans"/>
              </a:rPr>
              <a:t>Giao Diện Chung Cho 3 Loại Popup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2950" y="2776537"/>
            <a:ext cx="9525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0" i="0" u="none">
                <a:solidFill>
                  <a:srgbClr val="334155"/>
                </a:solidFill>
                <a:latin typeface="Plus Jakarta San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2800350"/>
            <a:ext cx="4544913" cy="70485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334155"/>
                </a:solidFill>
                <a:latin typeface="Plus Jakarta Sans"/>
              </a:rPr>
              <a:t>Truy cập đối tượng:</a:t>
            </a:r>
            <a:r>
              <a:rPr sz="1425" b="0" i="0" u="none">
                <a:solidFill>
                  <a:srgbClr val="334155"/>
                </a:solidFill>
                <a:latin typeface="Plus Jakarta Sans"/>
              </a:rPr>
              <a:t> Dùng driver.switch_to.alert ngay sau khi kích hoạt popup.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2950" y="3614737"/>
            <a:ext cx="9525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0" i="0" u="none">
                <a:solidFill>
                  <a:srgbClr val="334155"/>
                </a:solidFill>
                <a:latin typeface="Plus Jakarta San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3638550"/>
            <a:ext cx="4544913" cy="49530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334155"/>
                </a:solidFill>
                <a:latin typeface="Plus Jakarta Sans"/>
              </a:rPr>
              <a:t>Phạm vi hỗ trợ:</a:t>
            </a:r>
            <a:r>
              <a:rPr sz="1425" b="0" i="0" u="none">
                <a:solidFill>
                  <a:srgbClr val="334155"/>
                </a:solidFill>
                <a:latin typeface="Plus Jakarta Sans"/>
              </a:rPr>
              <a:t> Hoạt động đồng nhất trên cả Alert, Confirm, Prompt.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2950" y="4243387"/>
            <a:ext cx="9525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0" i="0" u="none">
                <a:solidFill>
                  <a:srgbClr val="334155"/>
                </a:solidFill>
                <a:latin typeface="Plus Jakarta San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4267200"/>
            <a:ext cx="4544913" cy="49530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334155"/>
                </a:solidFill>
                <a:latin typeface="Plus Jakarta Sans"/>
              </a:rPr>
              <a:t>Xác nhận / Hủy bỏ:</a:t>
            </a:r>
            <a:r>
              <a:rPr sz="1425" b="0" i="0" u="none">
                <a:solidFill>
                  <a:srgbClr val="334155"/>
                </a:solidFill>
                <a:latin typeface="Plus Jakarta Sans"/>
              </a:rPr>
              <a:t> Gọi accept() để đồng ý hoặc dismiss() để đóng.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2950" y="4872037"/>
            <a:ext cx="9525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0" i="0" u="none">
                <a:solidFill>
                  <a:srgbClr val="334155"/>
                </a:solidFill>
                <a:latin typeface="Plus Jakarta San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4895850"/>
            <a:ext cx="4544913" cy="49530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334155"/>
                </a:solidFill>
                <a:latin typeface="Plus Jakarta Sans"/>
              </a:rPr>
              <a:t>Đọc &amp; Nhập liệu:</a:t>
            </a:r>
            <a:r>
              <a:rPr sz="1425" b="0" i="0" u="none">
                <a:solidFill>
                  <a:srgbClr val="334155"/>
                </a:solidFill>
                <a:latin typeface="Plus Jakarta Sans"/>
              </a:rPr>
              <a:t> Lấy chuỗi qua alert.text hoặc gõ vào Prompt bằng send_keys().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486025"/>
            <a:ext cx="4388792" cy="2781300"/>
          </a:xfrm>
          <a:prstGeom prst="roundRect">
            <a:avLst>
              <a:gd name="adj" fmla="val 5479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379392" y="2466975"/>
            <a:ext cx="6203007" cy="2819400"/>
          </a:xfrm>
          <a:prstGeom prst="roundRect">
            <a:avLst>
              <a:gd name="adj" fmla="val 4729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2563EB"/>
                </a:solidFill>
                <a:latin typeface="Plus Jakarta Sans"/>
              </a:rPr>
              <a:t>MỤC 5.1: EXPLICIT WAITS (CHỜ TƯỜNG MINH)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14375"/>
            <a:ext cx="11582400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1E293B"/>
                </a:solidFill>
                <a:latin typeface="Plus Jakarta Sans"/>
              </a:rPr>
              <a:t>Cơ Chế WebDriverWait &amp; Chu Kỳ Kiểm Tra Điều Kiện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46092" y="2733675"/>
            <a:ext cx="5764857" cy="19043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vi-VN" sz="1125" b="0" i="0" u="none" dirty="0">
                <a:solidFill>
                  <a:srgbClr val="E2E8F0"/>
                </a:solidFill>
                <a:latin typeface="Plus Jakarta Sans"/>
              </a:rPr>
              <a:t>from selenium.webdriver.common.by import By</a:t>
            </a:r>
          </a:p>
          <a:p>
            <a:pPr algn="l"/>
            <a:r>
              <a:rPr lang="vi-VN" sz="1125" b="0" i="0" u="none" dirty="0">
                <a:solidFill>
                  <a:srgbClr val="E2E8F0"/>
                </a:solidFill>
                <a:latin typeface="Plus Jakarta Sans"/>
              </a:rPr>
              <a:t>from selenium.webdriver.support.wait import WebDriverWait</a:t>
            </a:r>
          </a:p>
          <a:p>
            <a:pPr algn="l"/>
            <a:r>
              <a:rPr lang="vi-VN" sz="1125" b="0" i="0" u="none" dirty="0">
                <a:solidFill>
                  <a:srgbClr val="E2E8F0"/>
                </a:solidFill>
                <a:latin typeface="Plus Jakarta Sans"/>
              </a:rPr>
              <a:t>from selenium.webdriver.support import expected_conditions as EC</a:t>
            </a:r>
          </a:p>
          <a:p>
            <a:pPr algn="l"/>
            <a:endParaRPr lang="vi-VN" sz="1125" b="0" i="0" u="none" dirty="0">
              <a:solidFill>
                <a:srgbClr val="E2E8F0"/>
              </a:solidFill>
              <a:latin typeface="Plus Jakarta Sans"/>
            </a:endParaRPr>
          </a:p>
          <a:p>
            <a:pPr algn="l"/>
            <a:r>
              <a:rPr lang="vi-VN" sz="1125" b="0" i="0" u="none" dirty="0">
                <a:solidFill>
                  <a:srgbClr val="E2E8F0"/>
                </a:solidFill>
                <a:latin typeface="Plus Jakarta Sans"/>
              </a:rPr>
              <a:t># Khắc phục nhược điểm chờ cứng của time.sleep()</a:t>
            </a:r>
          </a:p>
          <a:p>
            <a:pPr algn="l"/>
            <a:r>
              <a:rPr lang="vi-VN" sz="1125" b="0" i="0" u="none" dirty="0">
                <a:solidFill>
                  <a:srgbClr val="E2E8F0"/>
                </a:solidFill>
                <a:latin typeface="Plus Jakarta Sans"/>
              </a:rPr>
              <a:t>try:</a:t>
            </a:r>
          </a:p>
          <a:p>
            <a:pPr algn="l"/>
            <a:r>
              <a:rPr lang="vi-VN" sz="1125" b="0" i="0" u="none" dirty="0">
                <a:solidFill>
                  <a:srgbClr val="E2E8F0"/>
                </a:solidFill>
                <a:latin typeface="Plus Jakarta Sans"/>
              </a:rPr>
              <a:t>    element = WebDriverWait(driver, 10).until(</a:t>
            </a:r>
          </a:p>
          <a:p>
            <a:pPr algn="l"/>
            <a:r>
              <a:rPr lang="vi-VN" sz="1125" b="0" i="0" u="none" dirty="0">
                <a:solidFill>
                  <a:srgbClr val="E2E8F0"/>
                </a:solidFill>
                <a:latin typeface="Plus Jakarta Sans"/>
              </a:rPr>
              <a:t>        EC.presence_of_element_located((By.ID, "myDynamicElement"))</a:t>
            </a:r>
          </a:p>
          <a:p>
            <a:pPr algn="l"/>
            <a:r>
              <a:rPr lang="vi-VN" sz="1125" b="0" i="0" u="none" dirty="0">
                <a:solidFill>
                  <a:srgbClr val="E2E8F0"/>
                </a:solidFill>
                <a:latin typeface="Plus Jakarta Sans"/>
              </a:rPr>
              <a:t>    )</a:t>
            </a:r>
          </a:p>
          <a:p>
            <a:pPr algn="l"/>
            <a:r>
              <a:rPr lang="vi-VN" sz="1125" b="0" i="0" u="none" dirty="0">
                <a:solidFill>
                  <a:srgbClr val="E2E8F0"/>
                </a:solidFill>
                <a:latin typeface="Plus Jakarta Sans"/>
              </a:rPr>
              <a:t>finally:</a:t>
            </a:r>
          </a:p>
          <a:p>
            <a:pPr algn="l"/>
            <a:r>
              <a:rPr lang="vi-VN" sz="1125" b="0" i="0" u="none" dirty="0">
                <a:solidFill>
                  <a:srgbClr val="E2E8F0"/>
                </a:solidFill>
                <a:latin typeface="Plus Jakarta Sans"/>
              </a:rPr>
              <a:t>    driver.quit()</a:t>
            </a:r>
            <a:endParaRPr sz="1125" b="0" i="0" u="none" dirty="0">
              <a:solidFill>
                <a:srgbClr val="E2E8F0"/>
              </a:solidFill>
              <a:latin typeface="Plus Jakarta San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94375" y="2828925"/>
            <a:ext cx="4819240" cy="1009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300" b="1" i="0" u="none">
                <a:solidFill>
                  <a:srgbClr val="2563EB"/>
                </a:solidFill>
                <a:latin typeface="Plus Jakarta Sans"/>
              </a:rPr>
              <a:t>500ms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4375" y="3952875"/>
            <a:ext cx="481924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1E293B"/>
                </a:solidFill>
                <a:latin typeface="Plus Jakarta Sans"/>
              </a:rPr>
              <a:t>Chu Kỳ Gọi Mặc Định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4375" y="4267200"/>
            <a:ext cx="4819240" cy="657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475569"/>
                </a:solidFill>
                <a:latin typeface="Plus Jakarta Sans"/>
              </a:rPr>
              <a:t>WebDriverWait kiểm tra ExpectedCondition mỗi 500ms cho tới khi trả về True hoặc hết giờ (ném TimeoutException).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2009775"/>
            <a:ext cx="1286023" cy="190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895623" y="2009775"/>
            <a:ext cx="7457330" cy="190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352954" y="2009775"/>
            <a:ext cx="2229445" cy="190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2738437"/>
            <a:ext cx="1286023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895623" y="2738437"/>
            <a:ext cx="745733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352954" y="2738437"/>
            <a:ext cx="2229445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9600" y="3729037"/>
            <a:ext cx="1286023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895623" y="3729037"/>
            <a:ext cx="745733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352954" y="3729037"/>
            <a:ext cx="2229445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09600" y="4662487"/>
            <a:ext cx="1286023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895623" y="4662487"/>
            <a:ext cx="745733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352954" y="4662487"/>
            <a:ext cx="2229445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09600" y="5595937"/>
            <a:ext cx="1286023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895623" y="5595937"/>
            <a:ext cx="745733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9352954" y="5595937"/>
            <a:ext cx="2229445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09600" y="6586537"/>
            <a:ext cx="1286023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895623" y="6586537"/>
            <a:ext cx="745733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352954" y="6586537"/>
            <a:ext cx="2229445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09600" y="1314450"/>
            <a:ext cx="10972800" cy="5286375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09600" y="1314450"/>
          <a:ext cx="10972798" cy="5286375"/>
        </p:xfrm>
        <a:graphic>
          <a:graphicData uri="http://schemas.openxmlformats.org/drawingml/2006/table">
            <a:tbl>
              <a:tblPr/>
              <a:tblGrid>
                <a:gridCol w="12860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57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294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81062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2563EB"/>
                          </a:solidFill>
                          <a:latin typeface="Plus Jakarta Sans"/>
                        </a:rPr>
                        <a:t>Nhóm Chức Năng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2563EB"/>
                          </a:solidFill>
                          <a:latin typeface="Plus Jakarta Sans"/>
                        </a:rPr>
                        <a:t>Phương Thức Trong expected_conditions (EC)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2563EB"/>
                          </a:solidFill>
                          <a:latin typeface="Plus Jakarta Sans"/>
                        </a:rPr>
                        <a:t>Ý Nghĩa Kiểm Tra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1062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Tiêu đề trang (2)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title_is, title_contains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Khớp chính xác hoặc chứa chuỗi tiêu đề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1062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Hiện diện &amp; Hiển thị (5)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presence_of_element_located, visibility_of_element_located, visibility_of, presence_of_all_elements_located, invisibility_of_element_located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Kiểm tra phần tử có trong DOM hoặc hiển thị/ẩn trên giao diện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1062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Văn bản &amp; Frame (3)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text_to_be_present_in_element, text_to_be_present_in_element_value, frame_to_be_available_and_switch_to_it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Chờ văn bản xuất hiện hoặc tự chuyển vào Frame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81062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Tương tác &amp; DOM (2)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element_to_be_clickable, staleness_of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Sẵn sàng nhấp chuột hoặc đã rời khỏi cây DOM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81065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Lựa chọn &amp; Alert (5)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element_to_be_selected, element_located_to_be_selected, element_selection_state_to_be, element_located_selection_state_to_be, alert_is_present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Kiểm tra trạng thái chọn thẻ hoặc hộp thoại Alert bật lên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609600" y="457200"/>
            <a:ext cx="115824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2563EB"/>
                </a:solidFill>
                <a:latin typeface="Plus Jakarta Sans"/>
              </a:rPr>
              <a:t>MỤC 5.1: MODULE EXPECTED_CONDITIONS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" y="714375"/>
            <a:ext cx="11582400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1E293B"/>
                </a:solidFill>
                <a:latin typeface="Plus Jakarta Sans"/>
              </a:rPr>
              <a:t>17 Điều Kiện Chờ Định Sẵn Trong Selenium Python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381250"/>
            <a:ext cx="6215508" cy="2990850"/>
          </a:xfrm>
          <a:prstGeom prst="roundRect">
            <a:avLst>
              <a:gd name="adj" fmla="val 4458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115824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2563EB"/>
                </a:solidFill>
                <a:latin typeface="Plus Jakarta Sans"/>
              </a:rPr>
              <a:t>MỤC 5.1: CUSTOM WAIT CONDITIONS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14375"/>
            <a:ext cx="11582400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1E293B"/>
                </a:solidFill>
                <a:latin typeface="Plus Jakarta Sans"/>
              </a:rPr>
              <a:t>Tự Định Nghĩa Điều Kiện Chờ Tùy Chỉnh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2609850"/>
            <a:ext cx="5853558" cy="22621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50" b="0" i="0" u="none" dirty="0">
                <a:solidFill>
                  <a:srgbClr val="E2E8F0"/>
                </a:solidFill>
                <a:latin typeface="Plus Jakarta Sans"/>
              </a:rPr>
              <a:t>class </a:t>
            </a:r>
            <a:r>
              <a:rPr lang="en-US" sz="1050" b="0" i="0" u="none" dirty="0" err="1">
                <a:solidFill>
                  <a:srgbClr val="E2E8F0"/>
                </a:solidFill>
                <a:latin typeface="Plus Jakarta Sans"/>
              </a:rPr>
              <a:t>element_has_css_class</a:t>
            </a:r>
            <a:r>
              <a:rPr lang="en-US" sz="1050" b="0" i="0" u="none" dirty="0">
                <a:solidFill>
                  <a:srgbClr val="E2E8F0"/>
                </a:solidFill>
                <a:latin typeface="Plus Jakarta Sans"/>
              </a:rPr>
              <a:t>(object):</a:t>
            </a:r>
          </a:p>
          <a:p>
            <a:pPr algn="l"/>
            <a:r>
              <a:rPr lang="en-US" sz="1050" b="0" i="0" u="none" dirty="0">
                <a:solidFill>
                  <a:srgbClr val="E2E8F0"/>
                </a:solidFill>
                <a:latin typeface="Plus Jakarta Sans"/>
              </a:rPr>
              <a:t>  def __</a:t>
            </a:r>
            <a:r>
              <a:rPr lang="en-US" sz="1050" b="0" i="0" u="none" dirty="0" err="1">
                <a:solidFill>
                  <a:srgbClr val="E2E8F0"/>
                </a:solidFill>
                <a:latin typeface="Plus Jakarta Sans"/>
              </a:rPr>
              <a:t>init</a:t>
            </a:r>
            <a:r>
              <a:rPr lang="en-US" sz="1050" b="0" i="0" u="none" dirty="0">
                <a:solidFill>
                  <a:srgbClr val="E2E8F0"/>
                </a:solidFill>
                <a:latin typeface="Plus Jakarta Sans"/>
              </a:rPr>
              <a:t>__(self, locator, </a:t>
            </a:r>
            <a:r>
              <a:rPr lang="en-US" sz="1050" b="0" i="0" u="none" dirty="0" err="1">
                <a:solidFill>
                  <a:srgbClr val="E2E8F0"/>
                </a:solidFill>
                <a:latin typeface="Plus Jakarta Sans"/>
              </a:rPr>
              <a:t>css_class</a:t>
            </a:r>
            <a:r>
              <a:rPr lang="en-US" sz="1050" b="0" i="0" u="none" dirty="0">
                <a:solidFill>
                  <a:srgbClr val="E2E8F0"/>
                </a:solidFill>
                <a:latin typeface="Plus Jakarta Sans"/>
              </a:rPr>
              <a:t>):</a:t>
            </a:r>
          </a:p>
          <a:p>
            <a:pPr algn="l"/>
            <a:r>
              <a:rPr lang="en-US" sz="1050" b="0" i="0" u="none" dirty="0">
                <a:solidFill>
                  <a:srgbClr val="E2E8F0"/>
                </a:solidFill>
                <a:latin typeface="Plus Jakarta Sans"/>
              </a:rPr>
              <a:t>    </a:t>
            </a:r>
            <a:r>
              <a:rPr lang="en-US" sz="1050" b="0" i="0" u="none" dirty="0" err="1">
                <a:solidFill>
                  <a:srgbClr val="E2E8F0"/>
                </a:solidFill>
                <a:latin typeface="Plus Jakarta Sans"/>
              </a:rPr>
              <a:t>self.locator</a:t>
            </a:r>
            <a:r>
              <a:rPr lang="en-US" sz="1050" b="0" i="0" u="none" dirty="0">
                <a:solidFill>
                  <a:srgbClr val="E2E8F0"/>
                </a:solidFill>
                <a:latin typeface="Plus Jakarta Sans"/>
              </a:rPr>
              <a:t> = locator</a:t>
            </a:r>
          </a:p>
          <a:p>
            <a:pPr algn="l"/>
            <a:r>
              <a:rPr lang="en-US" sz="1050" b="0" i="0" u="none" dirty="0">
                <a:solidFill>
                  <a:srgbClr val="E2E8F0"/>
                </a:solidFill>
                <a:latin typeface="Plus Jakarta Sans"/>
              </a:rPr>
              <a:t>    </a:t>
            </a:r>
            <a:r>
              <a:rPr lang="en-US" sz="1050" b="0" i="0" u="none" dirty="0" err="1">
                <a:solidFill>
                  <a:srgbClr val="E2E8F0"/>
                </a:solidFill>
                <a:latin typeface="Plus Jakarta Sans"/>
              </a:rPr>
              <a:t>self.css_class</a:t>
            </a:r>
            <a:r>
              <a:rPr lang="en-US" sz="1050" b="0" i="0" u="none" dirty="0">
                <a:solidFill>
                  <a:srgbClr val="E2E8F0"/>
                </a:solidFill>
                <a:latin typeface="Plus Jakarta Sans"/>
              </a:rPr>
              <a:t> = </a:t>
            </a:r>
            <a:r>
              <a:rPr lang="en-US" sz="1050" b="0" i="0" u="none" dirty="0" err="1">
                <a:solidFill>
                  <a:srgbClr val="E2E8F0"/>
                </a:solidFill>
                <a:latin typeface="Plus Jakarta Sans"/>
              </a:rPr>
              <a:t>css_class</a:t>
            </a:r>
            <a:endParaRPr lang="en-US" sz="1050" b="0" i="0" u="none" dirty="0">
              <a:solidFill>
                <a:srgbClr val="E2E8F0"/>
              </a:solidFill>
              <a:latin typeface="Plus Jakarta Sans"/>
            </a:endParaRPr>
          </a:p>
          <a:p>
            <a:pPr algn="l"/>
            <a:endParaRPr lang="en-US" sz="1050" b="0" i="0" u="none" dirty="0">
              <a:solidFill>
                <a:srgbClr val="E2E8F0"/>
              </a:solidFill>
              <a:latin typeface="Plus Jakarta Sans"/>
            </a:endParaRPr>
          </a:p>
          <a:p>
            <a:pPr algn="l"/>
            <a:r>
              <a:rPr lang="en-US" sz="1050" b="0" i="0" u="none" dirty="0">
                <a:solidFill>
                  <a:srgbClr val="E2E8F0"/>
                </a:solidFill>
                <a:latin typeface="Plus Jakarta Sans"/>
              </a:rPr>
              <a:t>  def __call__(self, driver):</a:t>
            </a:r>
          </a:p>
          <a:p>
            <a:pPr algn="l"/>
            <a:r>
              <a:rPr lang="en-US" sz="1050" b="0" i="0" u="none" dirty="0">
                <a:solidFill>
                  <a:srgbClr val="E2E8F0"/>
                </a:solidFill>
                <a:latin typeface="Plus Jakarta Sans"/>
              </a:rPr>
              <a:t>    element = </a:t>
            </a:r>
            <a:r>
              <a:rPr lang="en-US" sz="1050" b="0" i="0" u="none" dirty="0" err="1">
                <a:solidFill>
                  <a:srgbClr val="E2E8F0"/>
                </a:solidFill>
                <a:latin typeface="Plus Jakarta Sans"/>
              </a:rPr>
              <a:t>driver.find_element</a:t>
            </a:r>
            <a:r>
              <a:rPr lang="en-US" sz="1050" b="0" i="0" u="none" dirty="0">
                <a:solidFill>
                  <a:srgbClr val="E2E8F0"/>
                </a:solidFill>
                <a:latin typeface="Plus Jakarta Sans"/>
              </a:rPr>
              <a:t>(*</a:t>
            </a:r>
            <a:r>
              <a:rPr lang="en-US" sz="1050" b="0" i="0" u="none" dirty="0" err="1">
                <a:solidFill>
                  <a:srgbClr val="E2E8F0"/>
                </a:solidFill>
                <a:latin typeface="Plus Jakarta Sans"/>
              </a:rPr>
              <a:t>self.locator</a:t>
            </a:r>
            <a:r>
              <a:rPr lang="en-US" sz="1050" b="0" i="0" u="none" dirty="0">
                <a:solidFill>
                  <a:srgbClr val="E2E8F0"/>
                </a:solidFill>
                <a:latin typeface="Plus Jakarta Sans"/>
              </a:rPr>
              <a:t>)</a:t>
            </a:r>
          </a:p>
          <a:p>
            <a:pPr algn="l"/>
            <a:r>
              <a:rPr lang="en-US" sz="1050" b="0" i="0" u="none" dirty="0">
                <a:solidFill>
                  <a:srgbClr val="E2E8F0"/>
                </a:solidFill>
                <a:latin typeface="Plus Jakarta Sans"/>
              </a:rPr>
              <a:t>    if </a:t>
            </a:r>
            <a:r>
              <a:rPr lang="en-US" sz="1050" b="0" i="0" u="none" dirty="0" err="1">
                <a:solidFill>
                  <a:srgbClr val="E2E8F0"/>
                </a:solidFill>
                <a:latin typeface="Plus Jakarta Sans"/>
              </a:rPr>
              <a:t>self.css_class</a:t>
            </a:r>
            <a:r>
              <a:rPr lang="en-US" sz="1050" b="0" i="0" u="none" dirty="0">
                <a:solidFill>
                  <a:srgbClr val="E2E8F0"/>
                </a:solidFill>
                <a:latin typeface="Plus Jakarta Sans"/>
              </a:rPr>
              <a:t> in </a:t>
            </a:r>
            <a:r>
              <a:rPr lang="en-US" sz="1050" b="0" i="0" u="none" dirty="0" err="1">
                <a:solidFill>
                  <a:srgbClr val="E2E8F0"/>
                </a:solidFill>
                <a:latin typeface="Plus Jakarta Sans"/>
              </a:rPr>
              <a:t>element.get_attribute</a:t>
            </a:r>
            <a:r>
              <a:rPr lang="en-US" sz="1050" b="0" i="0" u="none" dirty="0">
                <a:solidFill>
                  <a:srgbClr val="E2E8F0"/>
                </a:solidFill>
                <a:latin typeface="Plus Jakarta Sans"/>
              </a:rPr>
              <a:t>("class"):</a:t>
            </a:r>
          </a:p>
          <a:p>
            <a:pPr algn="l"/>
            <a:r>
              <a:rPr lang="en-US" sz="1050" b="0" i="0" u="none" dirty="0">
                <a:solidFill>
                  <a:srgbClr val="E2E8F0"/>
                </a:solidFill>
                <a:latin typeface="Plus Jakarta Sans"/>
              </a:rPr>
              <a:t>        return element</a:t>
            </a:r>
          </a:p>
          <a:p>
            <a:pPr algn="l"/>
            <a:r>
              <a:rPr lang="en-US" sz="1050" b="0" i="0" u="none" dirty="0">
                <a:solidFill>
                  <a:srgbClr val="E2E8F0"/>
                </a:solidFill>
                <a:latin typeface="Plus Jakarta Sans"/>
              </a:rPr>
              <a:t>    else:</a:t>
            </a:r>
          </a:p>
          <a:p>
            <a:pPr algn="l"/>
            <a:r>
              <a:rPr lang="en-US" sz="1050" b="0" i="0" u="none" dirty="0">
                <a:solidFill>
                  <a:srgbClr val="E2E8F0"/>
                </a:solidFill>
                <a:latin typeface="Plus Jakarta Sans"/>
              </a:rPr>
              <a:t>        return False</a:t>
            </a:r>
          </a:p>
          <a:p>
            <a:pPr algn="l"/>
            <a:endParaRPr lang="en-US" sz="1050" b="0" i="0" u="none" dirty="0">
              <a:solidFill>
                <a:srgbClr val="E2E8F0"/>
              </a:solidFill>
              <a:latin typeface="Plus Jakarta Sans"/>
            </a:endParaRPr>
          </a:p>
          <a:p>
            <a:pPr algn="l"/>
            <a:r>
              <a:rPr lang="en-US" sz="1050" b="0" i="0" u="none" dirty="0">
                <a:solidFill>
                  <a:srgbClr val="E2E8F0"/>
                </a:solidFill>
                <a:latin typeface="Plus Jakarta Sans"/>
              </a:rPr>
              <a:t>wait = </a:t>
            </a:r>
            <a:r>
              <a:rPr lang="en-US" sz="1050" b="0" i="0" u="none" dirty="0" err="1">
                <a:solidFill>
                  <a:srgbClr val="E2E8F0"/>
                </a:solidFill>
                <a:latin typeface="Plus Jakarta Sans"/>
              </a:rPr>
              <a:t>WebDriverWait</a:t>
            </a:r>
            <a:r>
              <a:rPr lang="en-US" sz="1050" b="0" i="0" u="none" dirty="0">
                <a:solidFill>
                  <a:srgbClr val="E2E8F0"/>
                </a:solidFill>
                <a:latin typeface="Plus Jakarta Sans"/>
              </a:rPr>
              <a:t>(driver, 10)</a:t>
            </a:r>
          </a:p>
          <a:p>
            <a:pPr algn="l"/>
            <a:r>
              <a:rPr lang="en-US" sz="1050" b="0" i="0" u="none" dirty="0">
                <a:solidFill>
                  <a:srgbClr val="E2E8F0"/>
                </a:solidFill>
                <a:latin typeface="Plus Jakarta Sans"/>
              </a:rPr>
              <a:t>el = </a:t>
            </a:r>
            <a:r>
              <a:rPr lang="en-US" sz="1050" b="0" i="0" u="none" dirty="0" err="1">
                <a:solidFill>
                  <a:srgbClr val="E2E8F0"/>
                </a:solidFill>
                <a:latin typeface="Plus Jakarta Sans"/>
              </a:rPr>
              <a:t>wait.until</a:t>
            </a:r>
            <a:r>
              <a:rPr lang="en-US" sz="1050" b="0" i="0" u="none" dirty="0">
                <a:solidFill>
                  <a:srgbClr val="E2E8F0"/>
                </a:solidFill>
                <a:latin typeface="Plus Jakarta Sans"/>
              </a:rPr>
              <a:t>(</a:t>
            </a:r>
            <a:r>
              <a:rPr lang="en-US" sz="1050" b="0" i="0" u="none" dirty="0" err="1">
                <a:solidFill>
                  <a:srgbClr val="E2E8F0"/>
                </a:solidFill>
                <a:latin typeface="Plus Jakarta Sans"/>
              </a:rPr>
              <a:t>element_has_css_class</a:t>
            </a:r>
            <a:r>
              <a:rPr lang="en-US" sz="1050" b="0" i="0" u="none" dirty="0">
                <a:solidFill>
                  <a:srgbClr val="E2E8F0"/>
                </a:solidFill>
                <a:latin typeface="Plus Jakarta Sans"/>
              </a:rPr>
              <a:t>((By.ID, '</a:t>
            </a:r>
            <a:r>
              <a:rPr lang="en-US" sz="1050" b="0" i="0" u="none" dirty="0" err="1">
                <a:solidFill>
                  <a:srgbClr val="E2E8F0"/>
                </a:solidFill>
                <a:latin typeface="Plus Jakarta Sans"/>
              </a:rPr>
              <a:t>myNewInput</a:t>
            </a:r>
            <a:r>
              <a:rPr lang="en-US" sz="1050" b="0" i="0" u="none" dirty="0">
                <a:solidFill>
                  <a:srgbClr val="E2E8F0"/>
                </a:solidFill>
                <a:latin typeface="Plus Jakarta Sans"/>
              </a:rPr>
              <a:t>'), "</a:t>
            </a:r>
            <a:r>
              <a:rPr lang="en-US" sz="1050" b="0" i="0" u="none" dirty="0" err="1">
                <a:solidFill>
                  <a:srgbClr val="E2E8F0"/>
                </a:solidFill>
                <a:latin typeface="Plus Jakarta Sans"/>
              </a:rPr>
              <a:t>myCSSClass</a:t>
            </a:r>
            <a:r>
              <a:rPr lang="en-US" sz="1050" b="0" i="0" u="none" dirty="0">
                <a:solidFill>
                  <a:srgbClr val="E2E8F0"/>
                </a:solidFill>
                <a:latin typeface="Plus Jakarta Sans"/>
              </a:rPr>
              <a:t>"))</a:t>
            </a:r>
            <a:endParaRPr sz="1050" b="0" i="0" u="none" dirty="0">
              <a:solidFill>
                <a:srgbClr val="E2E8F0"/>
              </a:solidFill>
              <a:latin typeface="Plus Jakarta San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206108" y="2800350"/>
            <a:ext cx="4985891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E293B"/>
                </a:solidFill>
                <a:latin typeface="Plus Jakarta Sans"/>
              </a:rPr>
              <a:t>Nguyên Tắc Thiết Kế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39458" y="3214687"/>
            <a:ext cx="9525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0" i="0" u="none">
                <a:solidFill>
                  <a:srgbClr val="334155"/>
                </a:solidFill>
                <a:latin typeface="Plus Jakarta San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34708" y="3238500"/>
            <a:ext cx="4242941" cy="47625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334155"/>
                </a:solidFill>
                <a:latin typeface="Plus Jakarta Sans"/>
              </a:rPr>
              <a:t>Phương thức __call__:</a:t>
            </a:r>
            <a:r>
              <a:rPr sz="1425" b="0" i="0" u="none">
                <a:solidFill>
                  <a:srgbClr val="334155"/>
                </a:solidFill>
                <a:latin typeface="Plus Jakarta Sans"/>
              </a:rPr>
              <a:t> Tạo lớp Python có hàm __call__(self, driver).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39458" y="3824287"/>
            <a:ext cx="9525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0" i="0" u="none">
                <a:solidFill>
                  <a:srgbClr val="334155"/>
                </a:solidFill>
                <a:latin typeface="Plus Jakarta San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4708" y="3848100"/>
            <a:ext cx="4242941" cy="49530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334155"/>
                </a:solidFill>
                <a:latin typeface="Plus Jakarta Sans"/>
              </a:rPr>
              <a:t>Giá trị trả về:</a:t>
            </a:r>
            <a:r>
              <a:rPr sz="1425" b="0" i="0" u="none">
                <a:solidFill>
                  <a:srgbClr val="334155"/>
                </a:solidFill>
                <a:latin typeface="Plus Jakarta Sans"/>
              </a:rPr>
              <a:t> Trả về False khi chưa thỏa mãn, trả về WebElement khi khớp điều kiện.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9458" y="4452937"/>
            <a:ext cx="9525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0" i="0" u="none">
                <a:solidFill>
                  <a:srgbClr val="334155"/>
                </a:solidFill>
                <a:latin typeface="Plus Jakarta San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34708" y="4476750"/>
            <a:ext cx="4242941" cy="47625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334155"/>
                </a:solidFill>
                <a:latin typeface="Plus Jakarta Sans"/>
              </a:rPr>
              <a:t>Thư viện mở rộng:</a:t>
            </a:r>
            <a:r>
              <a:rPr sz="1425" b="0" i="0" u="none">
                <a:solidFill>
                  <a:srgbClr val="334155"/>
                </a:solidFill>
                <a:latin typeface="Plus Jakarta Sans"/>
              </a:rPr>
              <a:t> Có thể cài đặt thêm thư viện polling2 cho các tác vụ chờ nâng cao.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219325"/>
            <a:ext cx="5334000" cy="3314700"/>
          </a:xfrm>
          <a:prstGeom prst="roundRect">
            <a:avLst>
              <a:gd name="adj" fmla="val 402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2581275"/>
            <a:ext cx="5334000" cy="2590800"/>
          </a:xfrm>
          <a:prstGeom prst="roundRect">
            <a:avLst>
              <a:gd name="adj" fmla="val 514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76300" y="3476625"/>
            <a:ext cx="4800600" cy="1790700"/>
          </a:xfrm>
          <a:prstGeom prst="roundRect">
            <a:avLst>
              <a:gd name="adj" fmla="val 5319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515100" y="3838575"/>
            <a:ext cx="4800600" cy="1066800"/>
          </a:xfrm>
          <a:prstGeom prst="roundRect">
            <a:avLst>
              <a:gd name="adj" fmla="val 8928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2563EB"/>
                </a:solidFill>
                <a:latin typeface="Plus Jakarta Sans"/>
              </a:rPr>
              <a:t>MỤC 7.2: ACTION CHAINS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14375"/>
            <a:ext cx="11582400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1E293B"/>
                </a:solidFill>
                <a:latin typeface="Plus Jakarta Sans"/>
              </a:rPr>
              <a:t>Hàng Đợi Tương Tác Mức Thấp &amp; 2 Mẫu Khởi Tạo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2486025"/>
            <a:ext cx="6300787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2563EB"/>
                </a:solidFill>
                <a:latin typeface="Plus Jakarta Sans"/>
              </a:rPr>
              <a:t>1. Mẫu Nối Chuỗi (Chain Pattern)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2867025"/>
            <a:ext cx="48958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Gọi liên tiếp các thao tác trên một dòng và kết thúc bằng perform():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7750" y="3648075"/>
            <a:ext cx="4552950" cy="11310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50" b="0" i="0" u="none" dirty="0">
                <a:solidFill>
                  <a:srgbClr val="E2E8F0"/>
                </a:solidFill>
                <a:latin typeface="Plus Jakarta Sans"/>
              </a:rPr>
              <a:t>menu = </a:t>
            </a:r>
            <a:r>
              <a:rPr lang="en-US" sz="1050" b="0" i="0" u="none" dirty="0" err="1">
                <a:solidFill>
                  <a:srgbClr val="E2E8F0"/>
                </a:solidFill>
                <a:latin typeface="Plus Jakarta Sans"/>
              </a:rPr>
              <a:t>driver.find_element</a:t>
            </a:r>
            <a:r>
              <a:rPr lang="en-US" sz="1050" b="0" i="0" u="none" dirty="0">
                <a:solidFill>
                  <a:srgbClr val="E2E8F0"/>
                </a:solidFill>
                <a:latin typeface="Plus Jakarta Sans"/>
              </a:rPr>
              <a:t>(</a:t>
            </a:r>
            <a:r>
              <a:rPr lang="en-US" sz="1050" b="0" i="0" u="none" dirty="0" err="1">
                <a:solidFill>
                  <a:srgbClr val="E2E8F0"/>
                </a:solidFill>
                <a:latin typeface="Plus Jakarta Sans"/>
              </a:rPr>
              <a:t>By.CSS_SELECTOR</a:t>
            </a:r>
            <a:r>
              <a:rPr lang="en-US" sz="1050" b="0" i="0" u="none" dirty="0">
                <a:solidFill>
                  <a:srgbClr val="E2E8F0"/>
                </a:solidFill>
                <a:latin typeface="Plus Jakarta Sans"/>
              </a:rPr>
              <a:t>, ".nav")</a:t>
            </a:r>
          </a:p>
          <a:p>
            <a:pPr algn="l"/>
            <a:r>
              <a:rPr lang="en-US" sz="1050" b="0" i="0" u="none" dirty="0">
                <a:solidFill>
                  <a:srgbClr val="E2E8F0"/>
                </a:solidFill>
                <a:latin typeface="Plus Jakarta Sans"/>
              </a:rPr>
              <a:t>sub = </a:t>
            </a:r>
            <a:r>
              <a:rPr lang="en-US" sz="1050" b="0" i="0" u="none" dirty="0" err="1">
                <a:solidFill>
                  <a:srgbClr val="E2E8F0"/>
                </a:solidFill>
                <a:latin typeface="Plus Jakarta Sans"/>
              </a:rPr>
              <a:t>driver.find_element</a:t>
            </a:r>
            <a:r>
              <a:rPr lang="en-US" sz="1050" b="0" i="0" u="none" dirty="0">
                <a:solidFill>
                  <a:srgbClr val="E2E8F0"/>
                </a:solidFill>
                <a:latin typeface="Plus Jakarta Sans"/>
              </a:rPr>
              <a:t>(</a:t>
            </a:r>
            <a:r>
              <a:rPr lang="en-US" sz="1050" b="0" i="0" u="none" dirty="0" err="1">
                <a:solidFill>
                  <a:srgbClr val="E2E8F0"/>
                </a:solidFill>
                <a:latin typeface="Plus Jakarta Sans"/>
              </a:rPr>
              <a:t>By.CSS_SELECTOR</a:t>
            </a:r>
            <a:r>
              <a:rPr lang="en-US" sz="1050" b="0" i="0" u="none" dirty="0">
                <a:solidFill>
                  <a:srgbClr val="E2E8F0"/>
                </a:solidFill>
                <a:latin typeface="Plus Jakarta Sans"/>
              </a:rPr>
              <a:t>, ".nav #submenu1")</a:t>
            </a:r>
          </a:p>
          <a:p>
            <a:pPr algn="l"/>
            <a:endParaRPr lang="en-US" sz="1050" b="0" i="0" u="none" dirty="0">
              <a:solidFill>
                <a:srgbClr val="E2E8F0"/>
              </a:solidFill>
              <a:latin typeface="Plus Jakarta Sans"/>
            </a:endParaRPr>
          </a:p>
          <a:p>
            <a:pPr algn="l"/>
            <a:r>
              <a:rPr lang="en-US" sz="1050" b="0" i="0" u="none" dirty="0" err="1">
                <a:solidFill>
                  <a:srgbClr val="E2E8F0"/>
                </a:solidFill>
                <a:latin typeface="Plus Jakarta Sans"/>
              </a:rPr>
              <a:t>ActionChains</a:t>
            </a:r>
            <a:r>
              <a:rPr lang="en-US" sz="1050" b="0" i="0" u="none" dirty="0">
                <a:solidFill>
                  <a:srgbClr val="E2E8F0"/>
                </a:solidFill>
                <a:latin typeface="Plus Jakarta Sans"/>
              </a:rPr>
              <a:t>(driver)\</a:t>
            </a:r>
          </a:p>
          <a:p>
            <a:pPr algn="l"/>
            <a:r>
              <a:rPr lang="en-US" sz="1050" b="0" i="0" u="none" dirty="0">
                <a:solidFill>
                  <a:srgbClr val="E2E8F0"/>
                </a:solidFill>
                <a:latin typeface="Plus Jakarta Sans"/>
              </a:rPr>
              <a:t>  .</a:t>
            </a:r>
            <a:r>
              <a:rPr lang="en-US" sz="1050" b="0" i="0" u="none" dirty="0" err="1">
                <a:solidFill>
                  <a:srgbClr val="E2E8F0"/>
                </a:solidFill>
                <a:latin typeface="Plus Jakarta Sans"/>
              </a:rPr>
              <a:t>move_to_element</a:t>
            </a:r>
            <a:r>
              <a:rPr lang="en-US" sz="1050" b="0" i="0" u="none" dirty="0">
                <a:solidFill>
                  <a:srgbClr val="E2E8F0"/>
                </a:solidFill>
                <a:latin typeface="Plus Jakarta Sans"/>
              </a:rPr>
              <a:t>(menu)\</a:t>
            </a:r>
          </a:p>
          <a:p>
            <a:pPr algn="l"/>
            <a:r>
              <a:rPr lang="en-US" sz="1050" b="0" i="0" u="none" dirty="0">
                <a:solidFill>
                  <a:srgbClr val="E2E8F0"/>
                </a:solidFill>
                <a:latin typeface="Plus Jakarta Sans"/>
              </a:rPr>
              <a:t>  .click(sub)\</a:t>
            </a:r>
          </a:p>
          <a:p>
            <a:pPr algn="l"/>
            <a:r>
              <a:rPr lang="en-US" sz="1050" b="0" i="0" u="none" dirty="0">
                <a:solidFill>
                  <a:srgbClr val="E2E8F0"/>
                </a:solidFill>
                <a:latin typeface="Plus Jakarta Sans"/>
              </a:rPr>
              <a:t>  .perform()</a:t>
            </a:r>
            <a:endParaRPr sz="1050" b="0" i="0" u="none" dirty="0">
              <a:solidFill>
                <a:srgbClr val="E2E8F0"/>
              </a:solidFill>
              <a:latin typeface="Plus Jakarta Sa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515100" y="2847975"/>
            <a:ext cx="567690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EA580C"/>
                </a:solidFill>
                <a:latin typeface="Plus Jakarta Sans"/>
              </a:rPr>
              <a:t>2. Mẫu Xếp Hàng Từng Bước (Queue)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5100" y="3228975"/>
            <a:ext cx="48958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Lưu từng lệnh vào hàng đợi (mặc định duration=250ms) rồi thực thi: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86550" y="4010025"/>
            <a:ext cx="4552950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50" b="0" i="0" u="none" dirty="0">
                <a:solidFill>
                  <a:srgbClr val="E2E8F0"/>
                </a:solidFill>
                <a:latin typeface="Plus Jakarta Sans"/>
              </a:rPr>
              <a:t>actions = </a:t>
            </a:r>
            <a:r>
              <a:rPr lang="en-US" sz="1050" b="0" i="0" u="none" dirty="0" err="1">
                <a:solidFill>
                  <a:srgbClr val="E2E8F0"/>
                </a:solidFill>
                <a:latin typeface="Plus Jakarta Sans"/>
              </a:rPr>
              <a:t>ActionChains</a:t>
            </a:r>
            <a:r>
              <a:rPr lang="en-US" sz="1050" b="0" i="0" u="none" dirty="0">
                <a:solidFill>
                  <a:srgbClr val="E2E8F0"/>
                </a:solidFill>
                <a:latin typeface="Plus Jakarta Sans"/>
              </a:rPr>
              <a:t>(driver, duration=250)</a:t>
            </a:r>
          </a:p>
          <a:p>
            <a:pPr algn="l"/>
            <a:r>
              <a:rPr lang="en-US" sz="1050" b="0" i="0" u="none" dirty="0" err="1">
                <a:solidFill>
                  <a:srgbClr val="E2E8F0"/>
                </a:solidFill>
                <a:latin typeface="Plus Jakarta Sans"/>
              </a:rPr>
              <a:t>actions.move_to_element</a:t>
            </a:r>
            <a:r>
              <a:rPr lang="en-US" sz="1050" b="0" i="0" u="none" dirty="0">
                <a:solidFill>
                  <a:srgbClr val="E2E8F0"/>
                </a:solidFill>
                <a:latin typeface="Plus Jakarta Sans"/>
              </a:rPr>
              <a:t>(menu)</a:t>
            </a:r>
          </a:p>
          <a:p>
            <a:pPr algn="l"/>
            <a:r>
              <a:rPr lang="en-US" sz="1050" b="0" i="0" u="none" dirty="0" err="1">
                <a:solidFill>
                  <a:srgbClr val="E2E8F0"/>
                </a:solidFill>
                <a:latin typeface="Plus Jakarta Sans"/>
              </a:rPr>
              <a:t>actions.click</a:t>
            </a:r>
            <a:r>
              <a:rPr lang="en-US" sz="1050" b="0" i="0" u="none" dirty="0">
                <a:solidFill>
                  <a:srgbClr val="E2E8F0"/>
                </a:solidFill>
                <a:latin typeface="Plus Jakarta Sans"/>
              </a:rPr>
              <a:t>(sub)</a:t>
            </a:r>
          </a:p>
          <a:p>
            <a:pPr algn="l"/>
            <a:r>
              <a:rPr lang="en-US" sz="1050" b="0" i="0" u="none" dirty="0" err="1">
                <a:solidFill>
                  <a:srgbClr val="E2E8F0"/>
                </a:solidFill>
                <a:latin typeface="Plus Jakarta Sans"/>
              </a:rPr>
              <a:t>actions.perform</a:t>
            </a:r>
            <a:r>
              <a:rPr lang="en-US" sz="1050" b="0" i="0" u="none" dirty="0">
                <a:solidFill>
                  <a:srgbClr val="E2E8F0"/>
                </a:solidFill>
                <a:latin typeface="Plus Jakarta Sans"/>
              </a:rPr>
              <a:t>()</a:t>
            </a:r>
            <a:endParaRPr sz="1050" b="0" i="0" u="none" dirty="0">
              <a:solidFill>
                <a:srgbClr val="E2E8F0"/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76550"/>
            <a:ext cx="2571750" cy="2000250"/>
          </a:xfrm>
          <a:prstGeom prst="roundRect">
            <a:avLst>
              <a:gd name="adj" fmla="val 6666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09950" y="2786062"/>
            <a:ext cx="2571750" cy="2181225"/>
          </a:xfrm>
          <a:prstGeom prst="roundRect">
            <a:avLst>
              <a:gd name="adj" fmla="val 6113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10300" y="2747962"/>
            <a:ext cx="2571750" cy="2257425"/>
          </a:xfrm>
          <a:prstGeom prst="roundRect">
            <a:avLst>
              <a:gd name="adj" fmla="val 5907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010650" y="2876550"/>
            <a:ext cx="2571750" cy="2000250"/>
          </a:xfrm>
          <a:prstGeom prst="roundRect">
            <a:avLst>
              <a:gd name="adj" fmla="val 6666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2563EB"/>
                </a:solidFill>
                <a:latin typeface="Plus Jakarta Sans"/>
              </a:rPr>
              <a:t>MỤC 7.2: API CHI TIẾT ACTIONCHAINS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14375"/>
            <a:ext cx="11582400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1E293B"/>
                </a:solidFill>
                <a:latin typeface="Plus Jakarta Sans"/>
              </a:rPr>
              <a:t>Phân Nhóm 18 Phương Thức Điều Khiển Chuột &amp; Phím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150" y="3462337"/>
            <a:ext cx="2247900" cy="1200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0F172A"/>
                </a:solidFill>
                <a:latin typeface="Plus Jakarta Sans"/>
              </a:rPr>
              <a:t>click / </a:t>
            </a:r>
            <a:r>
              <a:rPr sz="1050" b="1" i="0" u="none" dirty="0" err="1">
                <a:solidFill>
                  <a:srgbClr val="0F172A"/>
                </a:solidFill>
                <a:latin typeface="Plus Jakarta Sans"/>
              </a:rPr>
              <a:t>double_click</a:t>
            </a:r>
            <a:r>
              <a:rPr sz="1050" b="1" i="0" u="none" dirty="0">
                <a:solidFill>
                  <a:srgbClr val="0F172A"/>
                </a:solidFill>
                <a:latin typeface="Plus Jakarta Sans"/>
              </a:rPr>
              <a:t> / </a:t>
            </a:r>
            <a:r>
              <a:rPr sz="1050" b="1" i="0" u="none" dirty="0" err="1">
                <a:solidFill>
                  <a:srgbClr val="0F172A"/>
                </a:solidFill>
                <a:latin typeface="Plus Jakarta Sans"/>
              </a:rPr>
              <a:t>context_click</a:t>
            </a:r>
            <a:r>
              <a:rPr sz="1050" b="1" i="0" u="none" dirty="0">
                <a:solidFill>
                  <a:srgbClr val="0F172A"/>
                </a:solidFill>
                <a:latin typeface="Plus Jakarta Sans"/>
              </a:rPr>
              <a:t> / </a:t>
            </a:r>
            <a:r>
              <a:rPr sz="1050" b="1" i="0" u="none" dirty="0" err="1">
                <a:solidFill>
                  <a:srgbClr val="0F172A"/>
                </a:solidFill>
                <a:latin typeface="Plus Jakarta Sans"/>
              </a:rPr>
              <a:t>click_and_hold</a:t>
            </a:r>
            <a:r>
              <a:rPr sz="1050" b="1" i="0" u="none" dirty="0">
                <a:solidFill>
                  <a:srgbClr val="0F172A"/>
                </a:solidFill>
                <a:latin typeface="Plus Jakarta Sans"/>
              </a:rPr>
              <a:t> / release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9500" y="3319462"/>
            <a:ext cx="2247900" cy="1381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move_to_element / move_by_offset / drag_and_drop / drag_and_drop_by_offset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850" y="3281362"/>
            <a:ext cx="2247900" cy="1457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key_down / key_up / send_keys / pause / perform / reset_actions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20200" y="3409950"/>
            <a:ext cx="2247900" cy="1200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 dirty="0" err="1">
                <a:solidFill>
                  <a:srgbClr val="0F172A"/>
                </a:solidFill>
                <a:latin typeface="Plus Jakarta Sans"/>
              </a:rPr>
              <a:t>scroll_to_element</a:t>
            </a:r>
            <a:r>
              <a:rPr sz="1050" b="1" i="0" u="none" dirty="0">
                <a:solidFill>
                  <a:srgbClr val="0F172A"/>
                </a:solidFill>
                <a:latin typeface="Plus Jakarta Sans"/>
              </a:rPr>
              <a:t> / </a:t>
            </a:r>
            <a:r>
              <a:rPr sz="1050" b="1" i="0" u="none" dirty="0" err="1">
                <a:solidFill>
                  <a:srgbClr val="0F172A"/>
                </a:solidFill>
                <a:latin typeface="Plus Jakarta Sans"/>
              </a:rPr>
              <a:t>scroll_by_amount</a:t>
            </a:r>
            <a:r>
              <a:rPr sz="1050" b="1" i="0" u="none" dirty="0">
                <a:solidFill>
                  <a:srgbClr val="0F172A"/>
                </a:solidFill>
                <a:latin typeface="Plus Jakarta Sans"/>
              </a:rPr>
              <a:t> / </a:t>
            </a:r>
            <a:r>
              <a:rPr sz="1050" b="1" i="0" u="none" dirty="0" err="1">
                <a:solidFill>
                  <a:srgbClr val="0F172A"/>
                </a:solidFill>
                <a:latin typeface="Plus Jakarta Sans"/>
              </a:rPr>
              <a:t>scroll_from_origin</a:t>
            </a:r>
            <a:endParaRPr sz="1050" b="1" i="0" u="none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19150" y="3143250"/>
            <a:ext cx="2825353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2563EB"/>
                </a:solidFill>
                <a:latin typeface="Plus Jakarta Sans"/>
              </a:rPr>
              <a:t>Nhấp Chuột (5)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150" y="4043362"/>
            <a:ext cx="22479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 dirty="0">
                <a:solidFill>
                  <a:srgbClr val="334155"/>
                </a:solidFill>
                <a:latin typeface="Plus Jakarta Sans"/>
              </a:rPr>
              <a:t>Thao </a:t>
            </a:r>
            <a:r>
              <a:rPr sz="1350" b="0" i="0" u="none" dirty="0" err="1">
                <a:solidFill>
                  <a:srgbClr val="334155"/>
                </a:solidFill>
                <a:latin typeface="Plus Jakarta Sans"/>
              </a:rPr>
              <a:t>tác</a:t>
            </a:r>
            <a:r>
              <a:rPr sz="1350" b="0" i="0" u="none" dirty="0">
                <a:solidFill>
                  <a:srgbClr val="334155"/>
                </a:solidFill>
                <a:latin typeface="Plus Jakarta Sans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Plus Jakarta Sans"/>
              </a:rPr>
              <a:t>nút</a:t>
            </a:r>
            <a:r>
              <a:rPr sz="1350" b="0" i="0" u="none" dirty="0">
                <a:solidFill>
                  <a:srgbClr val="334155"/>
                </a:solidFill>
                <a:latin typeface="Plus Jakarta Sans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Plus Jakarta Sans"/>
              </a:rPr>
              <a:t>chuột</a:t>
            </a:r>
            <a:r>
              <a:rPr sz="1350" b="0" i="0" u="none" dirty="0">
                <a:solidFill>
                  <a:srgbClr val="334155"/>
                </a:solidFill>
                <a:latin typeface="Plus Jakarta Sans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Plus Jakarta Sans"/>
              </a:rPr>
              <a:t>trực</a:t>
            </a:r>
            <a:r>
              <a:rPr sz="1350" b="0" i="0" u="none" dirty="0">
                <a:solidFill>
                  <a:srgbClr val="334155"/>
                </a:solidFill>
                <a:latin typeface="Plus Jakarta Sans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Plus Jakarta Sans"/>
              </a:rPr>
              <a:t>tiếp</a:t>
            </a:r>
            <a:r>
              <a:rPr sz="1350" b="0" i="0" u="none" dirty="0">
                <a:solidFill>
                  <a:srgbClr val="334155"/>
                </a:solidFill>
                <a:latin typeface="Plus Jakarta Sans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9500" y="3052762"/>
            <a:ext cx="2825353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2563EB"/>
                </a:solidFill>
                <a:latin typeface="Plus Jakarta Sans"/>
              </a:rPr>
              <a:t>Di Chuyển &amp; Kéo (5)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9500" y="4064316"/>
            <a:ext cx="22479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 dirty="0" err="1">
                <a:solidFill>
                  <a:srgbClr val="334155"/>
                </a:solidFill>
                <a:latin typeface="Plus Jakarta Sans"/>
              </a:rPr>
              <a:t>Dịch</a:t>
            </a:r>
            <a:r>
              <a:rPr sz="1350" b="0" i="0" u="none" dirty="0">
                <a:solidFill>
                  <a:srgbClr val="334155"/>
                </a:solidFill>
                <a:latin typeface="Plus Jakarta Sans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Plus Jakarta Sans"/>
              </a:rPr>
              <a:t>chuyển</a:t>
            </a:r>
            <a:r>
              <a:rPr sz="1350" b="0" i="0" u="none" dirty="0">
                <a:solidFill>
                  <a:srgbClr val="334155"/>
                </a:solidFill>
                <a:latin typeface="Plus Jakarta Sans"/>
              </a:rPr>
              <a:t> con </a:t>
            </a:r>
            <a:r>
              <a:rPr sz="1350" b="0" i="0" u="none" dirty="0" err="1">
                <a:solidFill>
                  <a:srgbClr val="334155"/>
                </a:solidFill>
                <a:latin typeface="Plus Jakarta Sans"/>
              </a:rPr>
              <a:t>trỏ</a:t>
            </a:r>
            <a:r>
              <a:rPr sz="1350" b="0" i="0" u="none" dirty="0">
                <a:solidFill>
                  <a:srgbClr val="334155"/>
                </a:solidFill>
                <a:latin typeface="Plus Jakarta Sans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Plus Jakarta Sans"/>
              </a:rPr>
              <a:t>theo</a:t>
            </a:r>
            <a:r>
              <a:rPr sz="1350" b="0" i="0" u="none" dirty="0">
                <a:solidFill>
                  <a:srgbClr val="334155"/>
                </a:solidFill>
                <a:latin typeface="Plus Jakarta Sans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Plus Jakarta Sans"/>
              </a:rPr>
              <a:t>tọa</a:t>
            </a:r>
            <a:r>
              <a:rPr sz="1350" b="0" i="0" u="none" dirty="0">
                <a:solidFill>
                  <a:srgbClr val="334155"/>
                </a:solidFill>
                <a:latin typeface="Plus Jakarta Sans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Plus Jakarta Sans"/>
              </a:rPr>
              <a:t>độ</a:t>
            </a:r>
            <a:r>
              <a:rPr sz="1350" b="0" i="0" u="none" dirty="0">
                <a:solidFill>
                  <a:srgbClr val="334155"/>
                </a:solidFill>
                <a:latin typeface="Plus Jakarta Sans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850" y="3014662"/>
            <a:ext cx="236029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2563EB"/>
                </a:solidFill>
                <a:latin typeface="Plus Jakarta Sans"/>
              </a:rPr>
              <a:t>Bàn Phím &amp; Hàng Đợi (5)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850" y="4064316"/>
            <a:ext cx="22479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 dirty="0" err="1">
                <a:solidFill>
                  <a:srgbClr val="334155"/>
                </a:solidFill>
                <a:latin typeface="Plus Jakarta Sans"/>
              </a:rPr>
              <a:t>Tổ</a:t>
            </a:r>
            <a:r>
              <a:rPr sz="1350" b="0" i="0" u="none" dirty="0">
                <a:solidFill>
                  <a:srgbClr val="334155"/>
                </a:solidFill>
                <a:latin typeface="Plus Jakarta Sans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Plus Jakarta Sans"/>
              </a:rPr>
              <a:t>hợp</a:t>
            </a:r>
            <a:r>
              <a:rPr sz="1350" b="0" i="0" u="none" dirty="0">
                <a:solidFill>
                  <a:srgbClr val="334155"/>
                </a:solidFill>
                <a:latin typeface="Plus Jakarta Sans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Plus Jakarta Sans"/>
              </a:rPr>
              <a:t>phím</a:t>
            </a:r>
            <a:r>
              <a:rPr sz="1350" b="0" i="0" u="none" dirty="0">
                <a:solidFill>
                  <a:srgbClr val="334155"/>
                </a:solidFill>
                <a:latin typeface="Plus Jakarta Sans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Plus Jakarta Sans"/>
              </a:rPr>
              <a:t>kèm</a:t>
            </a:r>
            <a:r>
              <a:rPr sz="1350" b="0" i="0" u="none" dirty="0">
                <a:solidFill>
                  <a:srgbClr val="334155"/>
                </a:solidFill>
                <a:latin typeface="Plus Jakarta Sans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Plus Jakarta Sans"/>
              </a:rPr>
              <a:t>quản</a:t>
            </a:r>
            <a:r>
              <a:rPr sz="1350" b="0" i="0" u="none" dirty="0">
                <a:solidFill>
                  <a:srgbClr val="334155"/>
                </a:solidFill>
                <a:latin typeface="Plus Jakarta Sans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Plus Jakarta Sans"/>
              </a:rPr>
              <a:t>lý</a:t>
            </a:r>
            <a:r>
              <a:rPr sz="1350" b="0" i="0" u="none" dirty="0">
                <a:solidFill>
                  <a:srgbClr val="334155"/>
                </a:solidFill>
                <a:latin typeface="Plus Jakarta Sans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Plus Jakarta Sans"/>
              </a:rPr>
              <a:t>lệnh</a:t>
            </a:r>
            <a:r>
              <a:rPr sz="1350" b="0" i="0" u="none" dirty="0">
                <a:solidFill>
                  <a:srgbClr val="334155"/>
                </a:solidFill>
                <a:latin typeface="Plus Jakarta Sans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20200" y="3052761"/>
            <a:ext cx="2825353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75" b="1" i="0" u="none" dirty="0" err="1">
                <a:solidFill>
                  <a:srgbClr val="EA580C"/>
                </a:solidFill>
                <a:latin typeface="Plus Jakarta Sans"/>
              </a:rPr>
              <a:t>Cuộn</a:t>
            </a:r>
            <a:r>
              <a:rPr sz="1575" b="1" i="0" u="none" dirty="0">
                <a:solidFill>
                  <a:srgbClr val="EA580C"/>
                </a:solidFill>
                <a:latin typeface="Plus Jakarta Sans"/>
              </a:rPr>
              <a:t> Trang (3)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20200" y="4064316"/>
            <a:ext cx="22479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 dirty="0" err="1">
                <a:solidFill>
                  <a:srgbClr val="334155"/>
                </a:solidFill>
                <a:latin typeface="Plus Jakarta Sans"/>
              </a:rPr>
              <a:t>Cuộn</a:t>
            </a:r>
            <a:r>
              <a:rPr sz="1350" b="0" i="0" u="none" dirty="0">
                <a:solidFill>
                  <a:srgbClr val="334155"/>
                </a:solidFill>
                <a:latin typeface="Plus Jakarta Sans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Plus Jakarta Sans"/>
              </a:rPr>
              <a:t>khung</a:t>
            </a:r>
            <a:r>
              <a:rPr sz="1350" b="0" i="0" u="none" dirty="0">
                <a:solidFill>
                  <a:srgbClr val="334155"/>
                </a:solidFill>
                <a:latin typeface="Plus Jakarta Sans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Plus Jakarta Sans"/>
              </a:rPr>
              <a:t>nhìn</a:t>
            </a:r>
            <a:r>
              <a:rPr sz="1350" b="0" i="0" u="none" dirty="0">
                <a:solidFill>
                  <a:srgbClr val="334155"/>
                </a:solidFill>
                <a:latin typeface="Plus Jakarta Sans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Plus Jakarta Sans"/>
              </a:rPr>
              <a:t>bằng</a:t>
            </a:r>
            <a:r>
              <a:rPr sz="1350" b="0" i="0" u="none" dirty="0">
                <a:solidFill>
                  <a:srgbClr val="334155"/>
                </a:solidFill>
                <a:latin typeface="Plus Jakarta Sans"/>
              </a:rPr>
              <a:t> con </a:t>
            </a:r>
            <a:r>
              <a:rPr sz="1350" b="0" i="0" u="none" dirty="0" err="1">
                <a:solidFill>
                  <a:srgbClr val="334155"/>
                </a:solidFill>
                <a:latin typeface="Plus Jakarta Sans"/>
              </a:rPr>
              <a:t>lăn</a:t>
            </a:r>
            <a:r>
              <a:rPr sz="1350" b="0" i="0" u="none" dirty="0">
                <a:solidFill>
                  <a:srgbClr val="334155"/>
                </a:solidFill>
                <a:latin typeface="Plus Jakarta Sans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962150"/>
            <a:ext cx="10972800" cy="81915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952750"/>
            <a:ext cx="10972800" cy="8382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3962400"/>
            <a:ext cx="10972800" cy="8382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4972050"/>
            <a:ext cx="10972800" cy="81915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" y="2228850"/>
            <a:ext cx="361950" cy="2857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3228975"/>
            <a:ext cx="219075" cy="2857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238625"/>
            <a:ext cx="285750" cy="2857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5238750"/>
            <a:ext cx="285750" cy="2857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2563EB"/>
                </a:solidFill>
                <a:latin typeface="Plus Jakarta Sans"/>
              </a:rPr>
              <a:t>MỤC 7.1: HỆ THỐNG NGOẠI LỆ WEBDRIVER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14375"/>
            <a:ext cx="11582400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1E293B"/>
                </a:solidFill>
                <a:latin typeface="Plus Jakarta Sans"/>
              </a:rPr>
              <a:t>Các Ngoại Lệ Trọng Tâm Liên Quan Trực Tiếp Đến Tuần 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28750" y="2152650"/>
            <a:ext cx="1000125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Plus Jakarta Sans"/>
              </a:rPr>
              <a:t>NoAlertPresentException &amp; UnexpectedAlertPresentException:</a:t>
            </a:r>
            <a:r>
              <a:rPr sz="1350" b="0" i="0" u="none">
                <a:solidFill>
                  <a:srgbClr val="1E293B"/>
                </a:solidFill>
                <a:latin typeface="Plus Jakarta Sans"/>
              </a:rPr>
              <a:t> Chuyển vào Alert khi hộp thoại chưa bật hoặc có hộp thoại bất ngờ chặn WebDriver thực thi lệnh.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5875" y="3143250"/>
            <a:ext cx="101441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Plus Jakarta Sans"/>
              </a:rPr>
              <a:t>TimeoutException &amp; StaleElementReferenceException:</a:t>
            </a:r>
            <a:r>
              <a:rPr sz="1350" b="0" i="0" u="none">
                <a:solidFill>
                  <a:srgbClr val="1E293B"/>
                </a:solidFill>
                <a:latin typeface="Plus Jakarta Sans"/>
              </a:rPr>
              <a:t> Hết thời gian chờ WebDriverWait hoặc phần tử đã bị xóa/tái tạo khỏi cây DOM.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2550" y="4152900"/>
            <a:ext cx="100774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Plus Jakarta Sans"/>
              </a:rPr>
              <a:t>MoveTargetOutOfBoundsException:</a:t>
            </a:r>
            <a:r>
              <a:rPr sz="1350" b="0" i="0" u="none">
                <a:solidFill>
                  <a:srgbClr val="1E293B"/>
                </a:solidFill>
                <a:latin typeface="Plus Jakarta Sans"/>
              </a:rPr>
              <a:t> Tọa độ đích truyền vào ActionChains.move() hoặc scroll_from_origin() nằm ngoài vùng hiển thị (viewport).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2550" y="5162550"/>
            <a:ext cx="1007745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Plus Jakarta Sans"/>
              </a:rPr>
              <a:t>ElementClickInterceptedException &amp; ElementNotInteractableException:</a:t>
            </a:r>
            <a:r>
              <a:rPr sz="1350" b="0" i="0" u="none">
                <a:solidFill>
                  <a:srgbClr val="1E293B"/>
                </a:solidFill>
                <a:latin typeface="Plus Jakarta Sans"/>
              </a:rPr>
              <a:t> Phần tử bị lớp khác che khuất hoặc ẩn trong DOM khiến thao tác nhấp chuột thất bại.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874269" y="1947862"/>
            <a:ext cx="6708130" cy="3819525"/>
          </a:xfrm>
          <a:prstGeom prst="roundRect">
            <a:avLst>
              <a:gd name="adj" fmla="val 3491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115824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2563EB"/>
                </a:solidFill>
                <a:latin typeface="Plus Jakarta Sans"/>
              </a:rPr>
              <a:t>PHẦN THỰC HÀNH: HƯỚNG DẪN CHẠY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14375"/>
            <a:ext cx="11582400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1E293B"/>
                </a:solidFill>
                <a:latin typeface="Plus Jakarta Sans"/>
              </a:rPr>
              <a:t>Kịch Bản Kiểm Thử Tổng Hợp Tuần 7 (demo_week7.py)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3819" y="2157412"/>
            <a:ext cx="6384280" cy="3400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12" b="0" i="0" u="none" dirty="0">
                <a:solidFill>
                  <a:srgbClr val="E2E8F0"/>
                </a:solidFill>
                <a:latin typeface="Plus Jakarta Sans"/>
              </a:rPr>
              <a:t>from selenium import </a:t>
            </a:r>
            <a:r>
              <a:rPr lang="en-US" sz="1012" b="0" i="0" u="none" dirty="0" err="1">
                <a:solidFill>
                  <a:srgbClr val="E2E8F0"/>
                </a:solidFill>
                <a:latin typeface="Plus Jakarta Sans"/>
              </a:rPr>
              <a:t>webdriver</a:t>
            </a:r>
            <a:endParaRPr lang="en-US" sz="1012" b="0" i="0" u="none" dirty="0">
              <a:solidFill>
                <a:srgbClr val="E2E8F0"/>
              </a:solidFill>
              <a:latin typeface="Plus Jakarta Sans"/>
            </a:endParaRPr>
          </a:p>
          <a:p>
            <a:pPr algn="l"/>
            <a:r>
              <a:rPr lang="en-US" sz="1012" b="0" i="0" u="none" dirty="0">
                <a:solidFill>
                  <a:srgbClr val="E2E8F0"/>
                </a:solidFill>
                <a:latin typeface="Plus Jakarta Sans"/>
              </a:rPr>
              <a:t>from selenium.webdriver.common.by import By</a:t>
            </a:r>
          </a:p>
          <a:p>
            <a:pPr algn="l"/>
            <a:r>
              <a:rPr lang="en-US" sz="1012" b="0" i="0" u="none" dirty="0">
                <a:solidFill>
                  <a:srgbClr val="E2E8F0"/>
                </a:solidFill>
                <a:latin typeface="Plus Jakarta Sans"/>
              </a:rPr>
              <a:t>from </a:t>
            </a:r>
            <a:r>
              <a:rPr lang="en-US" sz="1012" b="0" i="0" u="none" dirty="0" err="1">
                <a:solidFill>
                  <a:srgbClr val="E2E8F0"/>
                </a:solidFill>
                <a:latin typeface="Plus Jakarta Sans"/>
              </a:rPr>
              <a:t>selenium.webdriver.common.action_chains</a:t>
            </a:r>
            <a:r>
              <a:rPr lang="en-US" sz="1012" b="0" i="0" u="none" dirty="0">
                <a:solidFill>
                  <a:srgbClr val="E2E8F0"/>
                </a:solidFill>
                <a:latin typeface="Plus Jakarta Sans"/>
              </a:rPr>
              <a:t> import </a:t>
            </a:r>
            <a:r>
              <a:rPr lang="en-US" sz="1012" b="0" i="0" u="none" dirty="0" err="1">
                <a:solidFill>
                  <a:srgbClr val="E2E8F0"/>
                </a:solidFill>
                <a:latin typeface="Plus Jakarta Sans"/>
              </a:rPr>
              <a:t>ActionChains</a:t>
            </a:r>
            <a:endParaRPr lang="en-US" sz="1012" b="0" i="0" u="none" dirty="0">
              <a:solidFill>
                <a:srgbClr val="E2E8F0"/>
              </a:solidFill>
              <a:latin typeface="Plus Jakarta Sans"/>
            </a:endParaRPr>
          </a:p>
          <a:p>
            <a:pPr algn="l"/>
            <a:r>
              <a:rPr lang="en-US" sz="1012" b="0" i="0" u="none" dirty="0">
                <a:solidFill>
                  <a:srgbClr val="E2E8F0"/>
                </a:solidFill>
                <a:latin typeface="Plus Jakarta Sans"/>
              </a:rPr>
              <a:t>from </a:t>
            </a:r>
            <a:r>
              <a:rPr lang="en-US" sz="1012" b="0" i="0" u="none" dirty="0" err="1">
                <a:solidFill>
                  <a:srgbClr val="E2E8F0"/>
                </a:solidFill>
                <a:latin typeface="Plus Jakarta Sans"/>
              </a:rPr>
              <a:t>selenium.webdriver.support.wait</a:t>
            </a:r>
            <a:r>
              <a:rPr lang="en-US" sz="1012" b="0" i="0" u="none" dirty="0">
                <a:solidFill>
                  <a:srgbClr val="E2E8F0"/>
                </a:solidFill>
                <a:latin typeface="Plus Jakarta Sans"/>
              </a:rPr>
              <a:t> import </a:t>
            </a:r>
            <a:r>
              <a:rPr lang="en-US" sz="1012" b="0" i="0" u="none" dirty="0" err="1">
                <a:solidFill>
                  <a:srgbClr val="E2E8F0"/>
                </a:solidFill>
                <a:latin typeface="Plus Jakarta Sans"/>
              </a:rPr>
              <a:t>WebDriverWait</a:t>
            </a:r>
            <a:endParaRPr lang="en-US" sz="1012" b="0" i="0" u="none" dirty="0">
              <a:solidFill>
                <a:srgbClr val="E2E8F0"/>
              </a:solidFill>
              <a:latin typeface="Plus Jakarta Sans"/>
            </a:endParaRPr>
          </a:p>
          <a:p>
            <a:pPr algn="l"/>
            <a:r>
              <a:rPr lang="en-US" sz="1012" b="0" i="0" u="none" dirty="0">
                <a:solidFill>
                  <a:srgbClr val="E2E8F0"/>
                </a:solidFill>
                <a:latin typeface="Plus Jakarta Sans"/>
              </a:rPr>
              <a:t>from </a:t>
            </a:r>
            <a:r>
              <a:rPr lang="en-US" sz="1012" b="0" i="0" u="none" dirty="0" err="1">
                <a:solidFill>
                  <a:srgbClr val="E2E8F0"/>
                </a:solidFill>
                <a:latin typeface="Plus Jakarta Sans"/>
              </a:rPr>
              <a:t>selenium.webdriver.support</a:t>
            </a:r>
            <a:r>
              <a:rPr lang="en-US" sz="1012" b="0" i="0" u="none" dirty="0">
                <a:solidFill>
                  <a:srgbClr val="E2E8F0"/>
                </a:solidFill>
                <a:latin typeface="Plus Jakarta Sans"/>
              </a:rPr>
              <a:t> import </a:t>
            </a:r>
            <a:r>
              <a:rPr lang="en-US" sz="1012" b="0" i="0" u="none" dirty="0" err="1">
                <a:solidFill>
                  <a:srgbClr val="E2E8F0"/>
                </a:solidFill>
                <a:latin typeface="Plus Jakarta Sans"/>
              </a:rPr>
              <a:t>expected_conditions</a:t>
            </a:r>
            <a:r>
              <a:rPr lang="en-US" sz="1012" b="0" i="0" u="none" dirty="0">
                <a:solidFill>
                  <a:srgbClr val="E2E8F0"/>
                </a:solidFill>
                <a:latin typeface="Plus Jakarta Sans"/>
              </a:rPr>
              <a:t> as EC</a:t>
            </a:r>
          </a:p>
          <a:p>
            <a:pPr algn="l"/>
            <a:r>
              <a:rPr lang="en-US" sz="1012" b="0" i="0" u="none" dirty="0">
                <a:solidFill>
                  <a:srgbClr val="E2E8F0"/>
                </a:solidFill>
                <a:latin typeface="Plus Jakarta Sans"/>
              </a:rPr>
              <a:t>from </a:t>
            </a:r>
            <a:r>
              <a:rPr lang="en-US" sz="1012" b="0" i="0" u="none" dirty="0" err="1">
                <a:solidFill>
                  <a:srgbClr val="E2E8F0"/>
                </a:solidFill>
                <a:latin typeface="Plus Jakarta Sans"/>
              </a:rPr>
              <a:t>selenium.common.exceptions</a:t>
            </a:r>
            <a:r>
              <a:rPr lang="en-US" sz="1012" b="0" i="0" u="none" dirty="0">
                <a:solidFill>
                  <a:srgbClr val="E2E8F0"/>
                </a:solidFill>
                <a:latin typeface="Plus Jakarta Sans"/>
              </a:rPr>
              <a:t> import </a:t>
            </a:r>
            <a:r>
              <a:rPr lang="en-US" sz="1012" b="0" i="0" u="none" dirty="0" err="1">
                <a:solidFill>
                  <a:srgbClr val="E2E8F0"/>
                </a:solidFill>
                <a:latin typeface="Plus Jakarta Sans"/>
              </a:rPr>
              <a:t>TimeoutException</a:t>
            </a:r>
            <a:endParaRPr lang="en-US" sz="1012" b="0" i="0" u="none" dirty="0">
              <a:solidFill>
                <a:srgbClr val="E2E8F0"/>
              </a:solidFill>
              <a:latin typeface="Plus Jakarta Sans"/>
            </a:endParaRPr>
          </a:p>
          <a:p>
            <a:pPr algn="l"/>
            <a:endParaRPr lang="en-US" sz="1012" b="0" i="0" u="none" dirty="0">
              <a:solidFill>
                <a:srgbClr val="E2E8F0"/>
              </a:solidFill>
              <a:latin typeface="Plus Jakarta Sans"/>
            </a:endParaRPr>
          </a:p>
          <a:p>
            <a:pPr algn="l"/>
            <a:r>
              <a:rPr lang="en-US" sz="1012" b="0" i="0" u="none" dirty="0">
                <a:solidFill>
                  <a:srgbClr val="E2E8F0"/>
                </a:solidFill>
                <a:latin typeface="Plus Jakarta Sans"/>
              </a:rPr>
              <a:t>driver = </a:t>
            </a:r>
            <a:r>
              <a:rPr lang="en-US" sz="1012" b="0" i="0" u="none" dirty="0" err="1">
                <a:solidFill>
                  <a:srgbClr val="E2E8F0"/>
                </a:solidFill>
                <a:latin typeface="Plus Jakarta Sans"/>
              </a:rPr>
              <a:t>webdriver.Chrome</a:t>
            </a:r>
            <a:r>
              <a:rPr lang="en-US" sz="1012" b="0" i="0" u="none" dirty="0">
                <a:solidFill>
                  <a:srgbClr val="E2E8F0"/>
                </a:solidFill>
                <a:latin typeface="Plus Jakarta Sans"/>
              </a:rPr>
              <a:t>()</a:t>
            </a:r>
          </a:p>
          <a:p>
            <a:pPr algn="l"/>
            <a:r>
              <a:rPr lang="en-US" sz="1012" b="0" i="0" u="none" dirty="0" err="1">
                <a:solidFill>
                  <a:srgbClr val="E2E8F0"/>
                </a:solidFill>
                <a:latin typeface="Plus Jakarta Sans"/>
              </a:rPr>
              <a:t>driver.get</a:t>
            </a:r>
            <a:r>
              <a:rPr lang="en-US" sz="1012" b="0" i="0" u="none" dirty="0">
                <a:solidFill>
                  <a:srgbClr val="E2E8F0"/>
                </a:solidFill>
                <a:latin typeface="Plus Jakarta Sans"/>
              </a:rPr>
              <a:t>("</a:t>
            </a:r>
            <a:r>
              <a:rPr lang="en-US" sz="1012" b="0" i="0" u="none" dirty="0" err="1">
                <a:solidFill>
                  <a:srgbClr val="E2E8F0"/>
                </a:solidFill>
                <a:latin typeface="Plus Jakarta Sans"/>
              </a:rPr>
              <a:t>data:text</a:t>
            </a:r>
            <a:r>
              <a:rPr lang="en-US" sz="1012" b="0" i="0" u="none" dirty="0">
                <a:solidFill>
                  <a:srgbClr val="E2E8F0"/>
                </a:solidFill>
                <a:latin typeface="Plus Jakarta Sans"/>
              </a:rPr>
              <a:t>/html,&lt;button id='</a:t>
            </a:r>
            <a:r>
              <a:rPr lang="en-US" sz="1012" b="0" i="0" u="none" dirty="0" err="1">
                <a:solidFill>
                  <a:srgbClr val="E2E8F0"/>
                </a:solidFill>
                <a:latin typeface="Plus Jakarta Sans"/>
              </a:rPr>
              <a:t>btn</a:t>
            </a:r>
            <a:r>
              <a:rPr lang="en-US" sz="1012" b="0" i="0" u="none" dirty="0">
                <a:solidFill>
                  <a:srgbClr val="E2E8F0"/>
                </a:solidFill>
                <a:latin typeface="Plus Jakarta Sans"/>
              </a:rPr>
              <a:t>' </a:t>
            </a:r>
            <a:r>
              <a:rPr lang="en-US" sz="1012" b="0" i="0" u="none" dirty="0" err="1">
                <a:solidFill>
                  <a:srgbClr val="E2E8F0"/>
                </a:solidFill>
                <a:latin typeface="Plus Jakarta Sans"/>
              </a:rPr>
              <a:t>ondblclick</a:t>
            </a:r>
            <a:r>
              <a:rPr lang="en-US" sz="1012" b="0" i="0" u="none" dirty="0">
                <a:solidFill>
                  <a:srgbClr val="E2E8F0"/>
                </a:solidFill>
                <a:latin typeface="Plus Jakarta Sans"/>
              </a:rPr>
              <a:t>=\"alert('Popup OK!');"</a:t>
            </a:r>
          </a:p>
          <a:p>
            <a:pPr algn="l"/>
            <a:r>
              <a:rPr lang="en-US" sz="1012" b="0" i="0" u="none" dirty="0">
                <a:solidFill>
                  <a:srgbClr val="E2E8F0"/>
                </a:solidFill>
                <a:latin typeface="Plus Jakarta Sans"/>
              </a:rPr>
              <a:t>           "</a:t>
            </a:r>
            <a:r>
              <a:rPr lang="en-US" sz="1012" b="0" i="0" u="none" dirty="0" err="1">
                <a:solidFill>
                  <a:srgbClr val="E2E8F0"/>
                </a:solidFill>
                <a:latin typeface="Plus Jakarta Sans"/>
              </a:rPr>
              <a:t>document.body.innerHTML</a:t>
            </a:r>
            <a:r>
              <a:rPr lang="en-US" sz="1012" b="0" i="0" u="none" dirty="0">
                <a:solidFill>
                  <a:srgbClr val="E2E8F0"/>
                </a:solidFill>
                <a:latin typeface="Plus Jakarta Sans"/>
              </a:rPr>
              <a:t>+='&lt;div id=msg&gt;Done&lt;/div&gt;'\"&gt;Double Click&lt;/button&gt;")</a:t>
            </a:r>
          </a:p>
          <a:p>
            <a:pPr algn="l"/>
            <a:endParaRPr lang="en-US" sz="1012" b="0" i="0" u="none" dirty="0">
              <a:solidFill>
                <a:srgbClr val="E2E8F0"/>
              </a:solidFill>
              <a:latin typeface="Plus Jakarta Sans"/>
            </a:endParaRPr>
          </a:p>
          <a:p>
            <a:pPr algn="l"/>
            <a:r>
              <a:rPr lang="en-US" sz="1012" b="0" i="0" u="none" dirty="0" err="1">
                <a:solidFill>
                  <a:srgbClr val="E2E8F0"/>
                </a:solidFill>
                <a:latin typeface="Plus Jakarta Sans"/>
              </a:rPr>
              <a:t>btn</a:t>
            </a:r>
            <a:r>
              <a:rPr lang="en-US" sz="1012" b="0" i="0" u="none" dirty="0">
                <a:solidFill>
                  <a:srgbClr val="E2E8F0"/>
                </a:solidFill>
                <a:latin typeface="Plus Jakarta Sans"/>
              </a:rPr>
              <a:t> = </a:t>
            </a:r>
            <a:r>
              <a:rPr lang="en-US" sz="1012" b="0" i="0" u="none" dirty="0" err="1">
                <a:solidFill>
                  <a:srgbClr val="E2E8F0"/>
                </a:solidFill>
                <a:latin typeface="Plus Jakarta Sans"/>
              </a:rPr>
              <a:t>driver.find_element</a:t>
            </a:r>
            <a:r>
              <a:rPr lang="en-US" sz="1012" b="0" i="0" u="none" dirty="0">
                <a:solidFill>
                  <a:srgbClr val="E2E8F0"/>
                </a:solidFill>
                <a:latin typeface="Plus Jakarta Sans"/>
              </a:rPr>
              <a:t>(By.ID, "</a:t>
            </a:r>
            <a:r>
              <a:rPr lang="en-US" sz="1012" b="0" i="0" u="none" dirty="0" err="1">
                <a:solidFill>
                  <a:srgbClr val="E2E8F0"/>
                </a:solidFill>
                <a:latin typeface="Plus Jakarta Sans"/>
              </a:rPr>
              <a:t>btn</a:t>
            </a:r>
            <a:r>
              <a:rPr lang="en-US" sz="1012" b="0" i="0" u="none" dirty="0">
                <a:solidFill>
                  <a:srgbClr val="E2E8F0"/>
                </a:solidFill>
                <a:latin typeface="Plus Jakarta Sans"/>
              </a:rPr>
              <a:t>")</a:t>
            </a:r>
          </a:p>
          <a:p>
            <a:pPr algn="l"/>
            <a:r>
              <a:rPr lang="en-US" sz="1012" b="0" i="0" u="none" dirty="0" err="1">
                <a:solidFill>
                  <a:srgbClr val="E2E8F0"/>
                </a:solidFill>
                <a:latin typeface="Plus Jakarta Sans"/>
              </a:rPr>
              <a:t>ActionChains</a:t>
            </a:r>
            <a:r>
              <a:rPr lang="en-US" sz="1012" b="0" i="0" u="none" dirty="0">
                <a:solidFill>
                  <a:srgbClr val="E2E8F0"/>
                </a:solidFill>
                <a:latin typeface="Plus Jakarta Sans"/>
              </a:rPr>
              <a:t>(driver).</a:t>
            </a:r>
            <a:r>
              <a:rPr lang="en-US" sz="1012" b="0" i="0" u="none" dirty="0" err="1">
                <a:solidFill>
                  <a:srgbClr val="E2E8F0"/>
                </a:solidFill>
                <a:latin typeface="Plus Jakarta Sans"/>
              </a:rPr>
              <a:t>move_to_element</a:t>
            </a:r>
            <a:r>
              <a:rPr lang="en-US" sz="1012" b="0" i="0" u="none" dirty="0">
                <a:solidFill>
                  <a:srgbClr val="E2E8F0"/>
                </a:solidFill>
                <a:latin typeface="Plus Jakarta Sans"/>
              </a:rPr>
              <a:t>(</a:t>
            </a:r>
            <a:r>
              <a:rPr lang="en-US" sz="1012" b="0" i="0" u="none" dirty="0" err="1">
                <a:solidFill>
                  <a:srgbClr val="E2E8F0"/>
                </a:solidFill>
                <a:latin typeface="Plus Jakarta Sans"/>
              </a:rPr>
              <a:t>btn</a:t>
            </a:r>
            <a:r>
              <a:rPr lang="en-US" sz="1012" b="0" i="0" u="none" dirty="0">
                <a:solidFill>
                  <a:srgbClr val="E2E8F0"/>
                </a:solidFill>
                <a:latin typeface="Plus Jakarta Sans"/>
              </a:rPr>
              <a:t>).</a:t>
            </a:r>
            <a:r>
              <a:rPr lang="en-US" sz="1012" b="0" i="0" u="none" dirty="0" err="1">
                <a:solidFill>
                  <a:srgbClr val="E2E8F0"/>
                </a:solidFill>
                <a:latin typeface="Plus Jakarta Sans"/>
              </a:rPr>
              <a:t>double_click</a:t>
            </a:r>
            <a:r>
              <a:rPr lang="en-US" sz="1012" b="0" i="0" u="none" dirty="0">
                <a:solidFill>
                  <a:srgbClr val="E2E8F0"/>
                </a:solidFill>
                <a:latin typeface="Plus Jakarta Sans"/>
              </a:rPr>
              <a:t>(</a:t>
            </a:r>
            <a:r>
              <a:rPr lang="en-US" sz="1012" b="0" i="0" u="none" dirty="0" err="1">
                <a:solidFill>
                  <a:srgbClr val="E2E8F0"/>
                </a:solidFill>
                <a:latin typeface="Plus Jakarta Sans"/>
              </a:rPr>
              <a:t>btn</a:t>
            </a:r>
            <a:r>
              <a:rPr lang="en-US" sz="1012" b="0" i="0" u="none" dirty="0">
                <a:solidFill>
                  <a:srgbClr val="E2E8F0"/>
                </a:solidFill>
                <a:latin typeface="Plus Jakarta Sans"/>
              </a:rPr>
              <a:t>).perform()</a:t>
            </a:r>
          </a:p>
          <a:p>
            <a:pPr algn="l"/>
            <a:endParaRPr lang="en-US" sz="1012" b="0" i="0" u="none" dirty="0">
              <a:solidFill>
                <a:srgbClr val="E2E8F0"/>
              </a:solidFill>
              <a:latin typeface="Plus Jakarta Sans"/>
            </a:endParaRPr>
          </a:p>
          <a:p>
            <a:pPr algn="l"/>
            <a:r>
              <a:rPr lang="en-US" sz="1012" b="0" i="0" u="none" dirty="0">
                <a:solidFill>
                  <a:srgbClr val="E2E8F0"/>
                </a:solidFill>
                <a:latin typeface="Plus Jakarta Sans"/>
              </a:rPr>
              <a:t>alert = </a:t>
            </a:r>
            <a:r>
              <a:rPr lang="en-US" sz="1012" b="0" i="0" u="none" dirty="0" err="1">
                <a:solidFill>
                  <a:srgbClr val="E2E8F0"/>
                </a:solidFill>
                <a:latin typeface="Plus Jakarta Sans"/>
              </a:rPr>
              <a:t>WebDriverWait</a:t>
            </a:r>
            <a:r>
              <a:rPr lang="en-US" sz="1012" b="0" i="0" u="none" dirty="0">
                <a:solidFill>
                  <a:srgbClr val="E2E8F0"/>
                </a:solidFill>
                <a:latin typeface="Plus Jakarta Sans"/>
              </a:rPr>
              <a:t>(driver, 5).until(</a:t>
            </a:r>
            <a:r>
              <a:rPr lang="en-US" sz="1012" b="0" i="0" u="none" dirty="0" err="1">
                <a:solidFill>
                  <a:srgbClr val="E2E8F0"/>
                </a:solidFill>
                <a:latin typeface="Plus Jakarta Sans"/>
              </a:rPr>
              <a:t>EC.alert_is_present</a:t>
            </a:r>
            <a:r>
              <a:rPr lang="en-US" sz="1012" b="0" i="0" u="none" dirty="0">
                <a:solidFill>
                  <a:srgbClr val="E2E8F0"/>
                </a:solidFill>
                <a:latin typeface="Plus Jakarta Sans"/>
              </a:rPr>
              <a:t>())</a:t>
            </a:r>
          </a:p>
          <a:p>
            <a:pPr algn="l"/>
            <a:r>
              <a:rPr lang="en-US" sz="1012" b="0" i="0" u="none" dirty="0">
                <a:solidFill>
                  <a:srgbClr val="E2E8F0"/>
                </a:solidFill>
                <a:latin typeface="Plus Jakarta Sans"/>
              </a:rPr>
              <a:t>print("3.5 </a:t>
            </a:r>
            <a:r>
              <a:rPr lang="en-US" sz="1012" b="0" i="0" u="none" dirty="0" err="1">
                <a:solidFill>
                  <a:srgbClr val="E2E8F0"/>
                </a:solidFill>
                <a:latin typeface="Plus Jakarta Sans"/>
              </a:rPr>
              <a:t>Nội</a:t>
            </a:r>
            <a:r>
              <a:rPr lang="en-US" sz="1012" b="0" i="0" u="none" dirty="0">
                <a:solidFill>
                  <a:srgbClr val="E2E8F0"/>
                </a:solidFill>
                <a:latin typeface="Plus Jakarta Sans"/>
              </a:rPr>
              <a:t> dung Popup:", </a:t>
            </a:r>
            <a:r>
              <a:rPr lang="en-US" sz="1012" b="0" i="0" u="none" dirty="0" err="1">
                <a:solidFill>
                  <a:srgbClr val="E2E8F0"/>
                </a:solidFill>
                <a:latin typeface="Plus Jakarta Sans"/>
              </a:rPr>
              <a:t>alert.text</a:t>
            </a:r>
            <a:r>
              <a:rPr lang="en-US" sz="1012" b="0" i="0" u="none" dirty="0">
                <a:solidFill>
                  <a:srgbClr val="E2E8F0"/>
                </a:solidFill>
                <a:latin typeface="Plus Jakarta Sans"/>
              </a:rPr>
              <a:t>)</a:t>
            </a:r>
          </a:p>
          <a:p>
            <a:pPr algn="l"/>
            <a:r>
              <a:rPr lang="en-US" sz="1012" b="0" i="0" u="none" dirty="0" err="1">
                <a:solidFill>
                  <a:srgbClr val="E2E8F0"/>
                </a:solidFill>
                <a:latin typeface="Plus Jakarta Sans"/>
              </a:rPr>
              <a:t>alert.accept</a:t>
            </a:r>
            <a:r>
              <a:rPr lang="en-US" sz="1012" b="0" i="0" u="none" dirty="0">
                <a:solidFill>
                  <a:srgbClr val="E2E8F0"/>
                </a:solidFill>
                <a:latin typeface="Plus Jakarta Sans"/>
              </a:rPr>
              <a:t>()</a:t>
            </a:r>
          </a:p>
          <a:p>
            <a:pPr algn="l"/>
            <a:endParaRPr lang="en-US" sz="1012" b="0" i="0" u="none" dirty="0">
              <a:solidFill>
                <a:srgbClr val="E2E8F0"/>
              </a:solidFill>
              <a:latin typeface="Plus Jakarta Sans"/>
            </a:endParaRPr>
          </a:p>
          <a:p>
            <a:pPr algn="l"/>
            <a:r>
              <a:rPr lang="en-US" sz="1012" b="0" i="0" u="none" dirty="0">
                <a:solidFill>
                  <a:srgbClr val="E2E8F0"/>
                </a:solidFill>
                <a:latin typeface="Plus Jakarta Sans"/>
              </a:rPr>
              <a:t>msg = </a:t>
            </a:r>
            <a:r>
              <a:rPr lang="en-US" sz="1012" b="0" i="0" u="none" dirty="0" err="1">
                <a:solidFill>
                  <a:srgbClr val="E2E8F0"/>
                </a:solidFill>
                <a:latin typeface="Plus Jakarta Sans"/>
              </a:rPr>
              <a:t>WebDriverWait</a:t>
            </a:r>
            <a:r>
              <a:rPr lang="en-US" sz="1012" b="0" i="0" u="none" dirty="0">
                <a:solidFill>
                  <a:srgbClr val="E2E8F0"/>
                </a:solidFill>
                <a:latin typeface="Plus Jakarta Sans"/>
              </a:rPr>
              <a:t>(driver, 5).until(</a:t>
            </a:r>
            <a:r>
              <a:rPr lang="en-US" sz="1012" b="0" i="0" u="none" dirty="0" err="1">
                <a:solidFill>
                  <a:srgbClr val="E2E8F0"/>
                </a:solidFill>
                <a:latin typeface="Plus Jakarta Sans"/>
              </a:rPr>
              <a:t>EC.visibility_of_element_located</a:t>
            </a:r>
            <a:r>
              <a:rPr lang="en-US" sz="1012" b="0" i="0" u="none" dirty="0">
                <a:solidFill>
                  <a:srgbClr val="E2E8F0"/>
                </a:solidFill>
                <a:latin typeface="Plus Jakarta Sans"/>
              </a:rPr>
              <a:t>((By.ID, "msg")))</a:t>
            </a:r>
          </a:p>
          <a:p>
            <a:pPr algn="l"/>
            <a:r>
              <a:rPr lang="en-US" sz="1012" b="0" i="0" u="none" dirty="0">
                <a:solidFill>
                  <a:srgbClr val="E2E8F0"/>
                </a:solidFill>
                <a:latin typeface="Plus Jakarta Sans"/>
              </a:rPr>
              <a:t>print("5.1 Explicit Wait </a:t>
            </a:r>
            <a:r>
              <a:rPr lang="en-US" sz="1012" b="0" i="0" u="none" dirty="0" err="1">
                <a:solidFill>
                  <a:srgbClr val="E2E8F0"/>
                </a:solidFill>
                <a:latin typeface="Plus Jakarta Sans"/>
              </a:rPr>
              <a:t>kết</a:t>
            </a:r>
            <a:r>
              <a:rPr lang="en-US" sz="1012" b="0" i="0" u="none" dirty="0">
                <a:solidFill>
                  <a:srgbClr val="E2E8F0"/>
                </a:solidFill>
                <a:latin typeface="Plus Jakarta Sans"/>
              </a:rPr>
              <a:t> </a:t>
            </a:r>
            <a:r>
              <a:rPr lang="en-US" sz="1012" b="0" i="0" u="none" dirty="0" err="1">
                <a:solidFill>
                  <a:srgbClr val="E2E8F0"/>
                </a:solidFill>
                <a:latin typeface="Plus Jakarta Sans"/>
              </a:rPr>
              <a:t>quả</a:t>
            </a:r>
            <a:r>
              <a:rPr lang="en-US" sz="1012" b="0" i="0" u="none" dirty="0">
                <a:solidFill>
                  <a:srgbClr val="E2E8F0"/>
                </a:solidFill>
                <a:latin typeface="Plus Jakarta Sans"/>
              </a:rPr>
              <a:t>:", </a:t>
            </a:r>
            <a:r>
              <a:rPr lang="en-US" sz="1012" b="0" i="0" u="none" dirty="0" err="1">
                <a:solidFill>
                  <a:srgbClr val="E2E8F0"/>
                </a:solidFill>
                <a:latin typeface="Plus Jakarta Sans"/>
              </a:rPr>
              <a:t>msg.text</a:t>
            </a:r>
            <a:r>
              <a:rPr lang="en-US" sz="1012" b="0" i="0" u="none" dirty="0">
                <a:solidFill>
                  <a:srgbClr val="E2E8F0"/>
                </a:solidFill>
                <a:latin typeface="Plus Jakarta Sans"/>
              </a:rPr>
              <a:t>)</a:t>
            </a:r>
          </a:p>
          <a:p>
            <a:pPr algn="l"/>
            <a:r>
              <a:rPr lang="en-US" sz="1012" b="0" i="0" u="none" dirty="0" err="1">
                <a:solidFill>
                  <a:srgbClr val="E2E8F0"/>
                </a:solidFill>
                <a:latin typeface="Plus Jakarta Sans"/>
              </a:rPr>
              <a:t>driver.quit</a:t>
            </a:r>
            <a:r>
              <a:rPr lang="en-US" sz="1012" b="0" i="0" u="none" dirty="0">
                <a:solidFill>
                  <a:srgbClr val="E2E8F0"/>
                </a:solidFill>
                <a:latin typeface="Plus Jakarta Sans"/>
              </a:rPr>
              <a:t>()</a:t>
            </a:r>
            <a:endParaRPr sz="1012" b="0" i="0" u="none" dirty="0">
              <a:solidFill>
                <a:srgbClr val="E2E8F0"/>
              </a:solidFill>
              <a:latin typeface="Plus Jakarta San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9600" y="2809875"/>
            <a:ext cx="5197329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293B"/>
                </a:solidFill>
                <a:latin typeface="Plus Jakarta Sans"/>
              </a:rPr>
              <a:t>Quy Trình 3 Bước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3900" y="3205162"/>
            <a:ext cx="1143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Plus Jakarta Sans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3228975"/>
            <a:ext cx="3826519" cy="47625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34155"/>
                </a:solidFill>
                <a:latin typeface="Plus Jakarta Sans"/>
              </a:rPr>
              <a:t>Chuẩn bị môi trường: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Mở Terminal chạy pip install selenium.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814762"/>
            <a:ext cx="1524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Plus Jakarta Sans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3838575"/>
            <a:ext cx="3826519" cy="457200"/>
          </a:xfrm>
          <a:prstGeom prst="rect">
            <a:avLst/>
          </a:prstGeom>
          <a:noFill/>
        </p:spPr>
        <p:txBody>
          <a:bodyPr wrap="square" lIns="15240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34155"/>
                </a:solidFill>
                <a:latin typeface="Plus Jakarta Sans"/>
              </a:rPr>
              <a:t>Tạo kịch bản: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Lưu mã nguồn bên cạnh vào tệp demo_week7.py.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405312"/>
            <a:ext cx="1524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Plus Jakarta Sans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4429125"/>
            <a:ext cx="3826519" cy="476250"/>
          </a:xfrm>
          <a:prstGeom prst="rect">
            <a:avLst/>
          </a:prstGeom>
          <a:noFill/>
        </p:spPr>
        <p:txBody>
          <a:bodyPr wrap="square" lIns="15240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34155"/>
                </a:solidFill>
                <a:latin typeface="Plus Jakarta Sans"/>
              </a:rPr>
              <a:t>Thực thi &amp; Chụp ảnh: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Chạy python demo_week7.py để kiểm chứng đủ 4 mục.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366962"/>
            <a:ext cx="5314950" cy="3019425"/>
          </a:xfrm>
          <a:prstGeom prst="roundRect">
            <a:avLst>
              <a:gd name="adj" fmla="val 4416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29350" y="2762250"/>
            <a:ext cx="5353050" cy="2228850"/>
          </a:xfrm>
          <a:prstGeom prst="roundRect">
            <a:avLst>
              <a:gd name="adj" fmla="val 5982"/>
            </a:avLst>
          </a:prstGeom>
          <a:solidFill>
            <a:srgbClr val="FFFFFF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8700" y="3162300"/>
            <a:ext cx="51435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457200"/>
            <a:ext cx="115824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2563EB"/>
                </a:solidFill>
                <a:latin typeface="Plus Jakarta Sans"/>
              </a:rPr>
              <a:t>BÁO CÁO KẾT QUẢ CHẠY THỰC NGHIỆM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14375"/>
            <a:ext cx="11582400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1E293B"/>
                </a:solidFill>
                <a:latin typeface="Plus Jakarta Sans"/>
              </a:rPr>
              <a:t>Kết Quả Đầu Ra Terminal &amp; Khung Minh Chứng Chạy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2900362"/>
            <a:ext cx="4876800" cy="15581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25" b="1" i="0" u="none" dirty="0">
                <a:solidFill>
                  <a:srgbClr val="F8FAFC"/>
                </a:solidFill>
                <a:latin typeface="Plus Jakarta Sans"/>
              </a:rPr>
              <a:t>$ python demo_week7.py</a:t>
            </a:r>
          </a:p>
          <a:p>
            <a:pPr algn="l"/>
            <a:endParaRPr lang="en-US" sz="1125" b="1" i="0" u="none" dirty="0">
              <a:solidFill>
                <a:srgbClr val="F8FAFC"/>
              </a:solidFill>
              <a:latin typeface="Plus Jakarta Sans"/>
            </a:endParaRPr>
          </a:p>
          <a:p>
            <a:pPr algn="l"/>
            <a:r>
              <a:rPr lang="en-US" sz="1125" b="1" i="0" u="none" dirty="0">
                <a:solidFill>
                  <a:srgbClr val="F8FAFC"/>
                </a:solidFill>
                <a:latin typeface="Plus Jakarta Sans"/>
              </a:rPr>
              <a:t>[7.2 </a:t>
            </a:r>
            <a:r>
              <a:rPr lang="en-US" sz="1125" b="1" i="0" u="none" dirty="0" err="1">
                <a:solidFill>
                  <a:srgbClr val="F8FAFC"/>
                </a:solidFill>
                <a:latin typeface="Plus Jakarta Sans"/>
              </a:rPr>
              <a:t>ActionChains</a:t>
            </a:r>
            <a:r>
              <a:rPr lang="en-US" sz="1125" b="1" i="0" u="none" dirty="0">
                <a:solidFill>
                  <a:srgbClr val="F8FAFC"/>
                </a:solidFill>
                <a:latin typeface="Plus Jakarta Sans"/>
              </a:rPr>
              <a:t>] </a:t>
            </a:r>
            <a:r>
              <a:rPr lang="en-US" sz="1125" b="1" i="0" u="none" dirty="0" err="1">
                <a:solidFill>
                  <a:srgbClr val="F8FAFC"/>
                </a:solidFill>
                <a:latin typeface="Plus Jakarta Sans"/>
              </a:rPr>
              <a:t>Đã</a:t>
            </a:r>
            <a:r>
              <a:rPr lang="en-US" sz="1125" b="1" i="0" u="none" dirty="0">
                <a:solidFill>
                  <a:srgbClr val="F8FAFC"/>
                </a:solidFill>
                <a:latin typeface="Plus Jakarta Sans"/>
              </a:rPr>
              <a:t> di </a:t>
            </a:r>
            <a:r>
              <a:rPr lang="en-US" sz="1125" b="1" i="0" u="none" dirty="0" err="1">
                <a:solidFill>
                  <a:srgbClr val="F8FAFC"/>
                </a:solidFill>
                <a:latin typeface="Plus Jakarta Sans"/>
              </a:rPr>
              <a:t>chuột</a:t>
            </a:r>
            <a:r>
              <a:rPr lang="en-US" sz="1125" b="1" i="0" u="none" dirty="0">
                <a:solidFill>
                  <a:srgbClr val="F8FAFC"/>
                </a:solidFill>
                <a:latin typeface="Plus Jakarta Sans"/>
              </a:rPr>
              <a:t> &amp; </a:t>
            </a:r>
            <a:r>
              <a:rPr lang="en-US" sz="1125" b="1" i="0" u="none" dirty="0" err="1">
                <a:solidFill>
                  <a:srgbClr val="F8FAFC"/>
                </a:solidFill>
                <a:latin typeface="Plus Jakarta Sans"/>
              </a:rPr>
              <a:t>nhấp</a:t>
            </a:r>
            <a:r>
              <a:rPr lang="en-US" sz="1125" b="1" i="0" u="none" dirty="0">
                <a:solidFill>
                  <a:srgbClr val="F8FAFC"/>
                </a:solidFill>
                <a:latin typeface="Plus Jakarta Sans"/>
              </a:rPr>
              <a:t> </a:t>
            </a:r>
            <a:r>
              <a:rPr lang="en-US" sz="1125" b="1" i="0" u="none" dirty="0" err="1">
                <a:solidFill>
                  <a:srgbClr val="F8FAFC"/>
                </a:solidFill>
                <a:latin typeface="Plus Jakarta Sans"/>
              </a:rPr>
              <a:t>đúp</a:t>
            </a:r>
            <a:r>
              <a:rPr lang="en-US" sz="1125" b="1" i="0" u="none" dirty="0">
                <a:solidFill>
                  <a:srgbClr val="F8FAFC"/>
                </a:solidFill>
                <a:latin typeface="Plus Jakarta Sans"/>
              </a:rPr>
              <a:t> </a:t>
            </a:r>
            <a:r>
              <a:rPr lang="en-US" sz="1125" b="1" i="0" u="none" dirty="0" err="1">
                <a:solidFill>
                  <a:srgbClr val="F8FAFC"/>
                </a:solidFill>
                <a:latin typeface="Plus Jakarta Sans"/>
              </a:rPr>
              <a:t>vào</a:t>
            </a:r>
            <a:r>
              <a:rPr lang="en-US" sz="1125" b="1" i="0" u="none" dirty="0">
                <a:solidFill>
                  <a:srgbClr val="F8FAFC"/>
                </a:solidFill>
                <a:latin typeface="Plus Jakarta Sans"/>
              </a:rPr>
              <a:t> </a:t>
            </a:r>
            <a:r>
              <a:rPr lang="en-US" sz="1125" b="1" i="0" u="none" dirty="0" err="1">
                <a:solidFill>
                  <a:srgbClr val="F8FAFC"/>
                </a:solidFill>
                <a:latin typeface="Plus Jakarta Sans"/>
              </a:rPr>
              <a:t>nút</a:t>
            </a:r>
            <a:r>
              <a:rPr lang="en-US" sz="1125" b="1" i="0" u="none" dirty="0">
                <a:solidFill>
                  <a:srgbClr val="F8FAFC"/>
                </a:solidFill>
                <a:latin typeface="Plus Jakarta Sans"/>
              </a:rPr>
              <a:t> #btn</a:t>
            </a:r>
          </a:p>
          <a:p>
            <a:pPr algn="l"/>
            <a:r>
              <a:rPr lang="en-US" sz="1125" b="1" i="0" u="none" dirty="0">
                <a:solidFill>
                  <a:srgbClr val="F8FAFC"/>
                </a:solidFill>
                <a:latin typeface="Plus Jakarta Sans"/>
              </a:rPr>
              <a:t>[3.5 Popup Dialogs] </a:t>
            </a:r>
            <a:r>
              <a:rPr lang="en-US" sz="1125" b="1" i="0" u="none" dirty="0" err="1">
                <a:solidFill>
                  <a:srgbClr val="F8FAFC"/>
                </a:solidFill>
                <a:latin typeface="Plus Jakarta Sans"/>
              </a:rPr>
              <a:t>Nội</a:t>
            </a:r>
            <a:r>
              <a:rPr lang="en-US" sz="1125" b="1" i="0" u="none" dirty="0">
                <a:solidFill>
                  <a:srgbClr val="F8FAFC"/>
                </a:solidFill>
                <a:latin typeface="Plus Jakarta Sans"/>
              </a:rPr>
              <a:t> dung Popup: Popup OK!</a:t>
            </a:r>
          </a:p>
          <a:p>
            <a:pPr algn="l"/>
            <a:r>
              <a:rPr lang="en-US" sz="1125" b="1" i="0" u="none" dirty="0">
                <a:solidFill>
                  <a:srgbClr val="F8FAFC"/>
                </a:solidFill>
                <a:latin typeface="Plus Jakarta Sans"/>
              </a:rPr>
              <a:t>[5.1 Explicit Waits] </a:t>
            </a:r>
            <a:r>
              <a:rPr lang="en-US" sz="1125" b="1" i="0" u="none" dirty="0" err="1">
                <a:solidFill>
                  <a:srgbClr val="F8FAFC"/>
                </a:solidFill>
                <a:latin typeface="Plus Jakarta Sans"/>
              </a:rPr>
              <a:t>Đã</a:t>
            </a:r>
            <a:r>
              <a:rPr lang="en-US" sz="1125" b="1" i="0" u="none" dirty="0">
                <a:solidFill>
                  <a:srgbClr val="F8FAFC"/>
                </a:solidFill>
                <a:latin typeface="Plus Jakarta Sans"/>
              </a:rPr>
              <a:t> </a:t>
            </a:r>
            <a:r>
              <a:rPr lang="en-US" sz="1125" b="1" i="0" u="none" dirty="0" err="1">
                <a:solidFill>
                  <a:srgbClr val="F8FAFC"/>
                </a:solidFill>
                <a:latin typeface="Plus Jakarta Sans"/>
              </a:rPr>
              <a:t>xác</a:t>
            </a:r>
            <a:r>
              <a:rPr lang="en-US" sz="1125" b="1" i="0" u="none" dirty="0">
                <a:solidFill>
                  <a:srgbClr val="F8FAFC"/>
                </a:solidFill>
                <a:latin typeface="Plus Jakarta Sans"/>
              </a:rPr>
              <a:t> </a:t>
            </a:r>
            <a:r>
              <a:rPr lang="en-US" sz="1125" b="1" i="0" u="none" dirty="0" err="1">
                <a:solidFill>
                  <a:srgbClr val="F8FAFC"/>
                </a:solidFill>
                <a:latin typeface="Plus Jakarta Sans"/>
              </a:rPr>
              <a:t>nhận</a:t>
            </a:r>
            <a:r>
              <a:rPr lang="en-US" sz="1125" b="1" i="0" u="none" dirty="0">
                <a:solidFill>
                  <a:srgbClr val="F8FAFC"/>
                </a:solidFill>
                <a:latin typeface="Plus Jakarta Sans"/>
              </a:rPr>
              <a:t> Alert &amp; </a:t>
            </a:r>
            <a:r>
              <a:rPr lang="en-US" sz="1125" b="1" i="0" u="none" dirty="0" err="1">
                <a:solidFill>
                  <a:srgbClr val="F8FAFC"/>
                </a:solidFill>
                <a:latin typeface="Plus Jakarta Sans"/>
              </a:rPr>
              <a:t>chờ</a:t>
            </a:r>
            <a:r>
              <a:rPr lang="en-US" sz="1125" b="1" i="0" u="none" dirty="0">
                <a:solidFill>
                  <a:srgbClr val="F8FAFC"/>
                </a:solidFill>
                <a:latin typeface="Plus Jakarta Sans"/>
              </a:rPr>
              <a:t> </a:t>
            </a:r>
            <a:r>
              <a:rPr lang="en-US" sz="1125" b="1" i="0" u="none" dirty="0" err="1">
                <a:solidFill>
                  <a:srgbClr val="F8FAFC"/>
                </a:solidFill>
                <a:latin typeface="Plus Jakarta Sans"/>
              </a:rPr>
              <a:t>phần</a:t>
            </a:r>
            <a:r>
              <a:rPr lang="en-US" sz="1125" b="1" i="0" u="none" dirty="0">
                <a:solidFill>
                  <a:srgbClr val="F8FAFC"/>
                </a:solidFill>
                <a:latin typeface="Plus Jakarta Sans"/>
              </a:rPr>
              <a:t> </a:t>
            </a:r>
            <a:r>
              <a:rPr lang="en-US" sz="1125" b="1" i="0" u="none" dirty="0" err="1">
                <a:solidFill>
                  <a:srgbClr val="F8FAFC"/>
                </a:solidFill>
                <a:latin typeface="Plus Jakarta Sans"/>
              </a:rPr>
              <a:t>tử</a:t>
            </a:r>
            <a:r>
              <a:rPr lang="en-US" sz="1125" b="1" i="0" u="none" dirty="0">
                <a:solidFill>
                  <a:srgbClr val="F8FAFC"/>
                </a:solidFill>
                <a:latin typeface="Plus Jakarta Sans"/>
              </a:rPr>
              <a:t> #msg</a:t>
            </a:r>
          </a:p>
          <a:p>
            <a:pPr algn="l"/>
            <a:r>
              <a:rPr lang="en-US" sz="1125" b="1" i="0" u="none" dirty="0">
                <a:solidFill>
                  <a:srgbClr val="F8FAFC"/>
                </a:solidFill>
                <a:latin typeface="Plus Jakarta Sans"/>
              </a:rPr>
              <a:t>[5.1 Explicit Wait </a:t>
            </a:r>
            <a:r>
              <a:rPr lang="en-US" sz="1125" b="1" i="0" u="none" dirty="0" err="1">
                <a:solidFill>
                  <a:srgbClr val="F8FAFC"/>
                </a:solidFill>
                <a:latin typeface="Plus Jakarta Sans"/>
              </a:rPr>
              <a:t>kết</a:t>
            </a:r>
            <a:r>
              <a:rPr lang="en-US" sz="1125" b="1" i="0" u="none" dirty="0">
                <a:solidFill>
                  <a:srgbClr val="F8FAFC"/>
                </a:solidFill>
                <a:latin typeface="Plus Jakarta Sans"/>
              </a:rPr>
              <a:t> </a:t>
            </a:r>
            <a:r>
              <a:rPr lang="en-US" sz="1125" b="1" i="0" u="none" dirty="0" err="1">
                <a:solidFill>
                  <a:srgbClr val="F8FAFC"/>
                </a:solidFill>
                <a:latin typeface="Plus Jakarta Sans"/>
              </a:rPr>
              <a:t>quả</a:t>
            </a:r>
            <a:r>
              <a:rPr lang="en-US" sz="1125" b="1" i="0" u="none" dirty="0">
                <a:solidFill>
                  <a:srgbClr val="F8FAFC"/>
                </a:solidFill>
                <a:latin typeface="Plus Jakarta Sans"/>
              </a:rPr>
              <a:t>]: Done</a:t>
            </a:r>
          </a:p>
          <a:p>
            <a:pPr algn="l"/>
            <a:r>
              <a:rPr lang="en-US" sz="1125" b="1" i="0" u="none" dirty="0">
                <a:solidFill>
                  <a:srgbClr val="F8FAFC"/>
                </a:solidFill>
                <a:latin typeface="Plus Jakarta Sans"/>
              </a:rPr>
              <a:t>[7.1 Exceptions] </a:t>
            </a:r>
            <a:r>
              <a:rPr lang="en-US" sz="1125" b="1" i="0" u="none" dirty="0" err="1">
                <a:solidFill>
                  <a:srgbClr val="F8FAFC"/>
                </a:solidFill>
                <a:latin typeface="Plus Jakarta Sans"/>
              </a:rPr>
              <a:t>Bắt</a:t>
            </a:r>
            <a:r>
              <a:rPr lang="en-US" sz="1125" b="1" i="0" u="none" dirty="0">
                <a:solidFill>
                  <a:srgbClr val="F8FAFC"/>
                </a:solidFill>
                <a:latin typeface="Plus Jakarta Sans"/>
              </a:rPr>
              <a:t> </a:t>
            </a:r>
            <a:r>
              <a:rPr lang="en-US" sz="1125" b="1" i="0" u="none" dirty="0" err="1">
                <a:solidFill>
                  <a:srgbClr val="F8FAFC"/>
                </a:solidFill>
                <a:latin typeface="Plus Jakarta Sans"/>
              </a:rPr>
              <a:t>thành</a:t>
            </a:r>
            <a:r>
              <a:rPr lang="en-US" sz="1125" b="1" i="0" u="none" dirty="0">
                <a:solidFill>
                  <a:srgbClr val="F8FAFC"/>
                </a:solidFill>
                <a:latin typeface="Plus Jakarta Sans"/>
              </a:rPr>
              <a:t> </a:t>
            </a:r>
            <a:r>
              <a:rPr lang="en-US" sz="1125" b="1" i="0" u="none" dirty="0" err="1">
                <a:solidFill>
                  <a:srgbClr val="F8FAFC"/>
                </a:solidFill>
                <a:latin typeface="Plus Jakarta Sans"/>
              </a:rPr>
              <a:t>công</a:t>
            </a:r>
            <a:r>
              <a:rPr lang="en-US" sz="1125" b="1" i="0" u="none" dirty="0">
                <a:solidFill>
                  <a:srgbClr val="F8FAFC"/>
                </a:solidFill>
                <a:latin typeface="Plus Jakarta Sans"/>
              </a:rPr>
              <a:t> </a:t>
            </a:r>
            <a:r>
              <a:rPr lang="en-US" sz="1125" b="1" i="0" u="none" dirty="0" err="1">
                <a:solidFill>
                  <a:srgbClr val="F8FAFC"/>
                </a:solidFill>
                <a:latin typeface="Plus Jakarta Sans"/>
              </a:rPr>
              <a:t>ngoại</a:t>
            </a:r>
            <a:r>
              <a:rPr lang="en-US" sz="1125" b="1" i="0" u="none" dirty="0">
                <a:solidFill>
                  <a:srgbClr val="F8FAFC"/>
                </a:solidFill>
                <a:latin typeface="Plus Jakarta Sans"/>
              </a:rPr>
              <a:t> </a:t>
            </a:r>
            <a:r>
              <a:rPr lang="en-US" sz="1125" b="1" i="0" u="none" dirty="0" err="1">
                <a:solidFill>
                  <a:srgbClr val="F8FAFC"/>
                </a:solidFill>
                <a:latin typeface="Plus Jakarta Sans"/>
              </a:rPr>
              <a:t>lệ</a:t>
            </a:r>
            <a:r>
              <a:rPr lang="en-US" sz="1125" b="1" i="0" u="none" dirty="0">
                <a:solidFill>
                  <a:srgbClr val="F8FAFC"/>
                </a:solidFill>
                <a:latin typeface="Plus Jakarta Sans"/>
              </a:rPr>
              <a:t> </a:t>
            </a:r>
            <a:r>
              <a:rPr lang="en-US" sz="1125" b="1" i="0" u="none" dirty="0" err="1">
                <a:solidFill>
                  <a:srgbClr val="F8FAFC"/>
                </a:solidFill>
                <a:latin typeface="Plus Jakarta Sans"/>
              </a:rPr>
              <a:t>TimeoutException</a:t>
            </a:r>
            <a:r>
              <a:rPr lang="en-US" sz="1125" b="1" i="0" u="none" dirty="0">
                <a:solidFill>
                  <a:srgbClr val="F8FAFC"/>
                </a:solidFill>
                <a:latin typeface="Plus Jakarta Sans"/>
              </a:rPr>
              <a:t>!</a:t>
            </a:r>
          </a:p>
          <a:p>
            <a:pPr algn="l"/>
            <a:endParaRPr lang="en-US" sz="1125" b="1" i="0" u="none" dirty="0">
              <a:solidFill>
                <a:srgbClr val="F8FAFC"/>
              </a:solidFill>
              <a:latin typeface="Plus Jakarta Sans"/>
            </a:endParaRPr>
          </a:p>
          <a:p>
            <a:pPr algn="l"/>
            <a:r>
              <a:rPr lang="en-US" sz="1125" b="1" i="0" u="none" dirty="0">
                <a:solidFill>
                  <a:srgbClr val="F8FAFC"/>
                </a:solidFill>
                <a:latin typeface="Plus Jakarta Sans"/>
              </a:rPr>
              <a:t>Process finished with exit code 0</a:t>
            </a:r>
            <a:endParaRPr sz="1125" b="1" i="0" u="none" dirty="0">
              <a:solidFill>
                <a:srgbClr val="F8FAFC"/>
              </a:solidFill>
              <a:latin typeface="Plus Jakarta San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6300" y="2633662"/>
            <a:ext cx="627578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60A5FA"/>
                </a:solidFill>
                <a:latin typeface="Plus Jakarta Sans"/>
              </a:rPr>
              <a:t>Log Đầu Ra Trên Terminal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8578" y="3771900"/>
            <a:ext cx="6274593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1E293B"/>
                </a:solidFill>
                <a:latin typeface="Plus Jakarta Sans"/>
              </a:rPr>
              <a:t>Vị Trí Chèn Ảnh Chụp Màn Hình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03AB489-21B8-DB57-0B0F-3119E0AEA8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49" y="2500311"/>
            <a:ext cx="5644829" cy="275272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39828" y="2619375"/>
            <a:ext cx="351234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60A5FA"/>
                </a:solidFill>
                <a:latin typeface="Plus Jakarta Sans"/>
              </a:rPr>
              <a:t>HOÀN THÀNH BÁO CÁO TUẦN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20453" y="2971800"/>
            <a:ext cx="8751093" cy="600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750" b="1" i="0" u="none">
                <a:solidFill>
                  <a:srgbClr val="F8FAFC"/>
                </a:solidFill>
                <a:latin typeface="Plus Jakarta Sans"/>
              </a:rPr>
              <a:t>Cảm Ơn &amp; Thảo Luận Câu Hỏi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47875" y="3762375"/>
            <a:ext cx="809625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94A3B8"/>
                </a:solidFill>
                <a:latin typeface="Plus Jakarta Sans"/>
              </a:rPr>
              <a:t>Kết hợp nhuần nhuyễn Popup Dialogs, Explicit Waits, ActionChains và quản lý Ngoại lệ giúp tự động hóa mọi kịch bản tương tác phức tạp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1750</Words>
  <Application>Microsoft Office PowerPoint</Application>
  <PresentationFormat>Widescreen</PresentationFormat>
  <Paragraphs>182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Plus Jakarta Sans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Manh Hung Nguyen</cp:lastModifiedBy>
  <cp:revision>2</cp:revision>
  <dcterms:created xsi:type="dcterms:W3CDTF">2013-01-27T09:14:16Z</dcterms:created>
  <dcterms:modified xsi:type="dcterms:W3CDTF">2026-10-27T22:36:11Z</dcterms:modified>
  <cp:category/>
</cp:coreProperties>
</file>